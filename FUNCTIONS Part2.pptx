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  <p:sldMasterId id="2147483656" r:id="rId5"/>
  </p:sldMasterIdLst>
  <p:notesMasterIdLst>
    <p:notesMasterId r:id="rId32"/>
  </p:notesMasterIdLst>
  <p:sldIdLst>
    <p:sldId id="257" r:id="rId6"/>
    <p:sldId id="294" r:id="rId7"/>
    <p:sldId id="259" r:id="rId8"/>
    <p:sldId id="275" r:id="rId9"/>
    <p:sldId id="314" r:id="rId10"/>
    <p:sldId id="316" r:id="rId11"/>
    <p:sldId id="315" r:id="rId12"/>
    <p:sldId id="317" r:id="rId13"/>
    <p:sldId id="311" r:id="rId14"/>
    <p:sldId id="318" r:id="rId15"/>
    <p:sldId id="319" r:id="rId16"/>
    <p:sldId id="312" r:id="rId17"/>
    <p:sldId id="320" r:id="rId18"/>
    <p:sldId id="321" r:id="rId19"/>
    <p:sldId id="313" r:id="rId20"/>
    <p:sldId id="322" r:id="rId21"/>
    <p:sldId id="323" r:id="rId22"/>
    <p:sldId id="324" r:id="rId23"/>
    <p:sldId id="325" r:id="rId24"/>
    <p:sldId id="326" r:id="rId25"/>
    <p:sldId id="327" r:id="rId26"/>
    <p:sldId id="328" r:id="rId27"/>
    <p:sldId id="329" r:id="rId28"/>
    <p:sldId id="271" r:id="rId29"/>
    <p:sldId id="273" r:id="rId30"/>
    <p:sldId id="310" r:id="rId31"/>
  </p:sldIdLst>
  <p:sldSz cx="12192000" cy="6858000"/>
  <p:notesSz cx="6858000" cy="9144000"/>
  <p:embeddedFontLst>
    <p:embeddedFont>
      <p:font typeface="Calibri" panose="020F0502020204030204" pitchFamily="34" charset="0"/>
      <p:regular r:id="rId33"/>
      <p:bold r:id="rId34"/>
      <p:italic r:id="rId35"/>
      <p:boldItalic r:id="rId36"/>
    </p:embeddedFont>
    <p:embeddedFont>
      <p:font typeface="Open Sans" panose="020B0604020202020204" charset="0"/>
      <p:regular r:id="rId37"/>
      <p:bold r:id="rId38"/>
      <p:italic r:id="rId39"/>
      <p:boldItalic r:id="rId40"/>
    </p:embeddedFont>
    <p:embeddedFont>
      <p:font typeface="Proxima Nova Black" panose="020B0604020202020204" charset="0"/>
      <p:bold r:id="rId4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86950" autoAdjust="0"/>
  </p:normalViewPr>
  <p:slideViewPr>
    <p:cSldViewPr snapToGrid="0">
      <p:cViewPr varScale="1">
        <p:scale>
          <a:sx n="74" d="100"/>
          <a:sy n="74" d="100"/>
        </p:scale>
        <p:origin x="576" y="60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font" Target="fonts/font7.fntdata"/><Relationship Id="rId3" Type="http://schemas.openxmlformats.org/officeDocument/2006/relationships/customXml" Target="../customXml/item3.xml"/><Relationship Id="rId21" Type="http://schemas.openxmlformats.org/officeDocument/2006/relationships/slide" Target="slides/slide16.xml"/><Relationship Id="rId34" Type="http://schemas.openxmlformats.org/officeDocument/2006/relationships/font" Target="fonts/font2.fntdata"/><Relationship Id="rId42" Type="http://schemas.openxmlformats.org/officeDocument/2006/relationships/presProps" Target="presProp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font" Target="fonts/font1.fntdata"/><Relationship Id="rId38" Type="http://schemas.openxmlformats.org/officeDocument/2006/relationships/font" Target="fonts/font6.fntdata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41" Type="http://schemas.openxmlformats.org/officeDocument/2006/relationships/font" Target="fonts/font9.fntdata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notesMaster" Target="notesMasters/notesMaster1.xml"/><Relationship Id="rId37" Type="http://schemas.openxmlformats.org/officeDocument/2006/relationships/font" Target="fonts/font5.fntdata"/><Relationship Id="rId40" Type="http://schemas.openxmlformats.org/officeDocument/2006/relationships/font" Target="fonts/font8.fntdata"/><Relationship Id="rId45" Type="http://schemas.openxmlformats.org/officeDocument/2006/relationships/tableStyles" Target="tableStyles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font" Target="fonts/font4.fntdata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4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font" Target="fonts/font3.fntdata"/><Relationship Id="rId43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верхнього колонтитула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3" name="Місце для дати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477A24-0CD7-48AC-99D6-4616F7F24091}" type="datetimeFigureOut">
              <a:rPr lang="uk-UA" smtClean="0"/>
              <a:t>16.05.2019</a:t>
            </a:fld>
            <a:endParaRPr lang="uk-UA"/>
          </a:p>
        </p:txBody>
      </p:sp>
      <p:sp>
        <p:nvSpPr>
          <p:cNvPr id="4" name="Місце для зображення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uk-UA"/>
          </a:p>
        </p:txBody>
      </p:sp>
      <p:sp>
        <p:nvSpPr>
          <p:cNvPr id="5" name="Місце для нотаток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uk-UA"/>
              <a:t>Клацніть, щоб відредагувати стилі зразків тексту</a:t>
            </a:r>
          </a:p>
          <a:p>
            <a:pPr lvl="1"/>
            <a:r>
              <a:rPr lang="uk-UA"/>
              <a:t>Другий рівень</a:t>
            </a:r>
          </a:p>
          <a:p>
            <a:pPr lvl="2"/>
            <a:r>
              <a:rPr lang="uk-UA"/>
              <a:t>Третій рівень</a:t>
            </a:r>
          </a:p>
          <a:p>
            <a:pPr lvl="3"/>
            <a:r>
              <a:rPr lang="uk-UA"/>
              <a:t>Четвертий рівень</a:t>
            </a:r>
          </a:p>
          <a:p>
            <a:pPr lvl="4"/>
            <a:r>
              <a:rPr lang="uk-UA"/>
              <a:t>П’ятий рівень</a:t>
            </a:r>
          </a:p>
        </p:txBody>
      </p:sp>
      <p:sp>
        <p:nvSpPr>
          <p:cNvPr id="6" name="Місце для нижнього колонтитула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uk-UA"/>
          </a:p>
        </p:txBody>
      </p:sp>
      <p:sp>
        <p:nvSpPr>
          <p:cNvPr id="7" name="Місце для номера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D04F5B-612B-4BBD-B72A-38EC12FF6A92}" type="slidenum">
              <a:rPr lang="uk-UA" smtClean="0"/>
              <a:t>‹№›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20103141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Місце для зображення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Місце для нотаток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uk-UA" dirty="0"/>
          </a:p>
        </p:txBody>
      </p:sp>
      <p:sp>
        <p:nvSpPr>
          <p:cNvPr id="4" name="Місце для номера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D04F5B-612B-4BBD-B72A-38EC12FF6A92}" type="slidenum">
              <a:rPr lang="uk-UA" smtClean="0"/>
              <a:t>24</a:t>
            </a:fld>
            <a:endParaRPr lang="uk-UA"/>
          </a:p>
        </p:txBody>
      </p:sp>
    </p:spTree>
    <p:extLst>
      <p:ext uri="{BB962C8B-B14F-4D97-AF65-F5344CB8AC3E}">
        <p14:creationId xmlns:p14="http://schemas.microsoft.com/office/powerpoint/2010/main" val="16521225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5707514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DARK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96648689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546376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19777268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604433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60788184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bg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6" name="TextBox 25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5623639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bg1">
              <a:lumMod val="65000"/>
              <a:lumOff val="35000"/>
            </a:schemeClr>
          </a:solidFill>
          <a:ln>
            <a:solidFill>
              <a:schemeClr val="bg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9" name="TextBox 3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9862825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337679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273960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020258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37345149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168543594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402253963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-208308" y="174928"/>
            <a:ext cx="12390783" cy="6683071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ts val="11000"/>
              </a:lnSpc>
              <a:defRPr sz="150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</a:t>
            </a:r>
            <a:br>
              <a:rPr lang="uk-UA" dirty="0"/>
            </a:br>
            <a:r>
              <a:rPr lang="en-US" dirty="0"/>
              <a:t>TO</a:t>
            </a:r>
            <a:r>
              <a:rPr lang="uk-UA" dirty="0"/>
              <a:t> </a:t>
            </a:r>
            <a:r>
              <a:rPr lang="en-US" dirty="0"/>
              <a:t>BE</a:t>
            </a:r>
            <a:r>
              <a:rPr lang="uk-UA" dirty="0"/>
              <a:t> </a:t>
            </a:r>
            <a:r>
              <a:rPr lang="en-US" dirty="0"/>
              <a:t>CAPI</a:t>
            </a:r>
            <a:br>
              <a:rPr lang="uk-UA" dirty="0"/>
            </a:br>
            <a:r>
              <a:rPr lang="en-US" dirty="0"/>
              <a:t>TALIZED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42424576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LIDE-LIGHT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 hasCustomPrompt="1"/>
          </p:nvPr>
        </p:nvSpPr>
        <p:spPr>
          <a:xfrm>
            <a:off x="685801" y="685799"/>
            <a:ext cx="10820400" cy="4800601"/>
          </a:xfrm>
          <a:prstGeom prst="rect">
            <a:avLst/>
          </a:prstGeom>
        </p:spPr>
        <p:txBody>
          <a:bodyPr lIns="0" anchor="t">
            <a:noAutofit/>
          </a:bodyPr>
          <a:lstStyle>
            <a:lvl1pPr>
              <a:lnSpc>
                <a:spcPts val="11000"/>
              </a:lnSpc>
              <a:defRPr sz="1250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Text Placeholder 19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5915025"/>
            <a:ext cx="3467100" cy="295275"/>
          </a:xfrm>
          <a:prstGeom prst="rect">
            <a:avLst/>
          </a:prstGeom>
        </p:spPr>
        <p:txBody>
          <a:bodyPr lIns="0"/>
          <a:lstStyle>
            <a:lvl1pPr marL="0" indent="0">
              <a:buNone/>
              <a:defRPr sz="2000" baseline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</a:lstStyle>
          <a:p>
            <a:pPr lvl="0"/>
            <a:r>
              <a:rPr lang="en-US" dirty="0"/>
              <a:t>by Speaker</a:t>
            </a:r>
          </a:p>
        </p:txBody>
      </p:sp>
    </p:spTree>
    <p:extLst>
      <p:ext uri="{BB962C8B-B14F-4D97-AF65-F5344CB8AC3E}">
        <p14:creationId xmlns:p14="http://schemas.microsoft.com/office/powerpoint/2010/main" val="266775348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ONE-COLUMN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4" name="TextBox 13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71893865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WO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174998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6330696" y="2057400"/>
            <a:ext cx="5175504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77016868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-THREE-COLUMN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ext Placeholder 6"/>
          <p:cNvSpPr>
            <a:spLocks noGrp="1"/>
          </p:cNvSpPr>
          <p:nvPr>
            <p:ph type="body" sz="quarter" idx="11" hasCustomPrompt="1"/>
          </p:nvPr>
        </p:nvSpPr>
        <p:spPr>
          <a:xfrm>
            <a:off x="4363212" y="2057400"/>
            <a:ext cx="3465576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8039100" y="2057400"/>
            <a:ext cx="34671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1419608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DESCRIPTION-SIDETEX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82486"/>
            <a:ext cx="7124700" cy="410391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8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3429001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8689739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SIDETEXT-PROCESS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4381500" y="1377043"/>
            <a:ext cx="7124700" cy="2051957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77043"/>
            <a:ext cx="3467100" cy="2051957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4" name="Oval 3"/>
          <p:cNvSpPr/>
          <p:nvPr userDrawn="1"/>
        </p:nvSpPr>
        <p:spPr>
          <a:xfrm>
            <a:off x="917664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/>
          <p:cNvSpPr/>
          <p:nvPr userDrawn="1"/>
        </p:nvSpPr>
        <p:spPr>
          <a:xfrm>
            <a:off x="3113586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/>
          <p:cNvSpPr/>
          <p:nvPr userDrawn="1"/>
        </p:nvSpPr>
        <p:spPr>
          <a:xfrm>
            <a:off x="530950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/>
          <p:cNvSpPr/>
          <p:nvPr userDrawn="1"/>
        </p:nvSpPr>
        <p:spPr>
          <a:xfrm>
            <a:off x="7505429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/>
          <p:cNvSpPr/>
          <p:nvPr userDrawn="1"/>
        </p:nvSpPr>
        <p:spPr>
          <a:xfrm>
            <a:off x="9701348" y="3638007"/>
            <a:ext cx="1598024" cy="1598024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Arrow Connector 15"/>
          <p:cNvCxnSpPr/>
          <p:nvPr userDrawn="1"/>
        </p:nvCxnSpPr>
        <p:spPr>
          <a:xfrm>
            <a:off x="2700337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/>
          <p:cNvCxnSpPr/>
          <p:nvPr userDrawn="1"/>
        </p:nvCxnSpPr>
        <p:spPr>
          <a:xfrm>
            <a:off x="4896259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 userDrawn="1"/>
        </p:nvCxnSpPr>
        <p:spPr>
          <a:xfrm>
            <a:off x="709218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/>
          <p:cNvCxnSpPr/>
          <p:nvPr userDrawn="1"/>
        </p:nvCxnSpPr>
        <p:spPr>
          <a:xfrm>
            <a:off x="9288101" y="4437019"/>
            <a:ext cx="228600" cy="0"/>
          </a:xfrm>
          <a:prstGeom prst="straightConnector1">
            <a:avLst/>
          </a:prstGeom>
          <a:ln w="19050">
            <a:solidFill>
              <a:schemeClr val="bg1">
                <a:lumMod val="65000"/>
                <a:lumOff val="35000"/>
              </a:schemeClr>
            </a:solidFill>
            <a:tailEnd type="arrow" w="lg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1045028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2" name="Text Placeholder 6"/>
          <p:cNvSpPr>
            <a:spLocks noGrp="1"/>
          </p:cNvSpPr>
          <p:nvPr>
            <p:ph type="body" sz="quarter" idx="14" hasCustomPrompt="1"/>
          </p:nvPr>
        </p:nvSpPr>
        <p:spPr>
          <a:xfrm>
            <a:off x="3247481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3" name="Text Placeholder 6"/>
          <p:cNvSpPr>
            <a:spLocks noGrp="1"/>
          </p:cNvSpPr>
          <p:nvPr>
            <p:ph type="body" sz="quarter" idx="15" hasCustomPrompt="1"/>
          </p:nvPr>
        </p:nvSpPr>
        <p:spPr>
          <a:xfrm>
            <a:off x="543360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4" name="Text Placeholder 6"/>
          <p:cNvSpPr>
            <a:spLocks noGrp="1"/>
          </p:cNvSpPr>
          <p:nvPr>
            <p:ph type="body" sz="quarter" idx="16" hasCustomPrompt="1"/>
          </p:nvPr>
        </p:nvSpPr>
        <p:spPr>
          <a:xfrm>
            <a:off x="7639324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5" name="Text Placeholder 6"/>
          <p:cNvSpPr>
            <a:spLocks noGrp="1"/>
          </p:cNvSpPr>
          <p:nvPr>
            <p:ph type="body" sz="quarter" idx="17" hasCustomPrompt="1"/>
          </p:nvPr>
        </p:nvSpPr>
        <p:spPr>
          <a:xfrm>
            <a:off x="9825445" y="4040777"/>
            <a:ext cx="1349829" cy="809897"/>
          </a:xfrm>
          <a:prstGeom prst="rect">
            <a:avLst/>
          </a:prstGeom>
        </p:spPr>
        <p:txBody>
          <a:bodyPr lIns="0"/>
          <a:lstStyle>
            <a:lvl1pPr marL="0" indent="0" algn="ctr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21" name="TextBox 20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874876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-TIMELINE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6"/>
          <p:cNvSpPr>
            <a:spLocks noGrp="1"/>
          </p:cNvSpPr>
          <p:nvPr>
            <p:ph type="body" sz="quarter" idx="13" hasCustomPrompt="1"/>
          </p:nvPr>
        </p:nvSpPr>
        <p:spPr>
          <a:xfrm>
            <a:off x="6858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cxnSp>
        <p:nvCxnSpPr>
          <p:cNvPr id="6" name="Straight Connector 5"/>
          <p:cNvCxnSpPr/>
          <p:nvPr userDrawn="1"/>
        </p:nvCxnSpPr>
        <p:spPr>
          <a:xfrm>
            <a:off x="-28575" y="2743200"/>
            <a:ext cx="12252960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 userDrawn="1"/>
        </p:nvSpPr>
        <p:spPr>
          <a:xfrm>
            <a:off x="6172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/>
          <p:cNvSpPr/>
          <p:nvPr userDrawn="1"/>
        </p:nvSpPr>
        <p:spPr>
          <a:xfrm>
            <a:off x="28270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/>
          <p:cNvSpPr/>
          <p:nvPr userDrawn="1"/>
        </p:nvSpPr>
        <p:spPr>
          <a:xfrm>
            <a:off x="50368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/>
          <p:cNvSpPr/>
          <p:nvPr userDrawn="1"/>
        </p:nvSpPr>
        <p:spPr>
          <a:xfrm>
            <a:off x="72466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/>
          <p:cNvSpPr/>
          <p:nvPr userDrawn="1"/>
        </p:nvSpPr>
        <p:spPr>
          <a:xfrm>
            <a:off x="9456420" y="2674620"/>
            <a:ext cx="137160" cy="137160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 Placeholder 6"/>
          <p:cNvSpPr>
            <a:spLocks noGrp="1"/>
          </p:cNvSpPr>
          <p:nvPr>
            <p:ph type="body" sz="quarter" idx="18" hasCustomPrompt="1"/>
          </p:nvPr>
        </p:nvSpPr>
        <p:spPr>
          <a:xfrm>
            <a:off x="28956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1" name="Text Placeholder 6"/>
          <p:cNvSpPr>
            <a:spLocks noGrp="1"/>
          </p:cNvSpPr>
          <p:nvPr>
            <p:ph type="body" sz="quarter" idx="19" hasCustomPrompt="1"/>
          </p:nvPr>
        </p:nvSpPr>
        <p:spPr>
          <a:xfrm>
            <a:off x="5114925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2" name="Text Placeholder 6"/>
          <p:cNvSpPr>
            <a:spLocks noGrp="1"/>
          </p:cNvSpPr>
          <p:nvPr>
            <p:ph type="body" sz="quarter" idx="20" hasCustomPrompt="1"/>
          </p:nvPr>
        </p:nvSpPr>
        <p:spPr>
          <a:xfrm>
            <a:off x="7315200" y="205740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3" name="Text Placeholder 6"/>
          <p:cNvSpPr>
            <a:spLocks noGrp="1"/>
          </p:cNvSpPr>
          <p:nvPr>
            <p:ph type="body" sz="quarter" idx="21" hasCustomPrompt="1"/>
          </p:nvPr>
        </p:nvSpPr>
        <p:spPr>
          <a:xfrm>
            <a:off x="9534525" y="2076450"/>
            <a:ext cx="1466850" cy="809897"/>
          </a:xfrm>
          <a:prstGeom prst="rect">
            <a:avLst/>
          </a:prstGeom>
        </p:spPr>
        <p:txBody>
          <a:bodyPr lIns="0"/>
          <a:lstStyle>
            <a:lvl1pPr marL="0" indent="0" algn="l">
              <a:lnSpc>
                <a:spcPct val="100000"/>
              </a:lnSpc>
              <a:buNone/>
              <a:defRPr sz="1600">
                <a:latin typeface="Proxima Nova Black" panose="02000506030000020004" pitchFamily="50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4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5" name="Text Placeholder 6"/>
          <p:cNvSpPr>
            <a:spLocks noGrp="1"/>
          </p:cNvSpPr>
          <p:nvPr>
            <p:ph type="body" sz="quarter" idx="22" hasCustomPrompt="1"/>
          </p:nvPr>
        </p:nvSpPr>
        <p:spPr>
          <a:xfrm>
            <a:off x="28956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6" name="Text Placeholder 6"/>
          <p:cNvSpPr>
            <a:spLocks noGrp="1"/>
          </p:cNvSpPr>
          <p:nvPr>
            <p:ph type="body" sz="quarter" idx="23" hasCustomPrompt="1"/>
          </p:nvPr>
        </p:nvSpPr>
        <p:spPr>
          <a:xfrm>
            <a:off x="511492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7" name="Text Placeholder 6"/>
          <p:cNvSpPr>
            <a:spLocks noGrp="1"/>
          </p:cNvSpPr>
          <p:nvPr>
            <p:ph type="body" sz="quarter" idx="24" hasCustomPrompt="1"/>
          </p:nvPr>
        </p:nvSpPr>
        <p:spPr>
          <a:xfrm>
            <a:off x="7315200" y="3076575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  <p:sp>
        <p:nvSpPr>
          <p:cNvPr id="38" name="Text Placeholder 6"/>
          <p:cNvSpPr>
            <a:spLocks noGrp="1"/>
          </p:cNvSpPr>
          <p:nvPr>
            <p:ph type="body" sz="quarter" idx="25" hasCustomPrompt="1"/>
          </p:nvPr>
        </p:nvSpPr>
        <p:spPr>
          <a:xfrm>
            <a:off x="9515475" y="3076574"/>
            <a:ext cx="1981200" cy="2276475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</a:t>
            </a:r>
          </a:p>
        </p:txBody>
      </p:sp>
    </p:spTree>
    <p:extLst>
      <p:ext uri="{BB962C8B-B14F-4D97-AF65-F5344CB8AC3E}">
        <p14:creationId xmlns:p14="http://schemas.microsoft.com/office/powerpoint/2010/main" val="112868998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19" name="Text Placeholder 6"/>
          <p:cNvSpPr>
            <a:spLocks noGrp="1"/>
          </p:cNvSpPr>
          <p:nvPr>
            <p:ph type="body" sz="quarter" idx="10" hasCustomPrompt="1"/>
          </p:nvPr>
        </p:nvSpPr>
        <p:spPr>
          <a:xfrm>
            <a:off x="685800" y="2057400"/>
            <a:ext cx="5295900" cy="34290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1"/>
          </p:nvPr>
        </p:nvSpPr>
        <p:spPr>
          <a:xfrm>
            <a:off x="6219825" y="2057400"/>
            <a:ext cx="5286375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2" name="TextBox 21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3584278733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WIDE-PHOTO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CLICK TO EDIT THE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0"/>
          </p:nvPr>
        </p:nvSpPr>
        <p:spPr>
          <a:xfrm>
            <a:off x="0" y="2057400"/>
            <a:ext cx="12192000" cy="48006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228554643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210300" y="2743200"/>
            <a:ext cx="5295900" cy="27432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20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210300" y="1371601"/>
            <a:ext cx="5295900" cy="1371600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5295900" cy="6858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TextBox 6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</p:spTree>
    <p:extLst>
      <p:ext uri="{BB962C8B-B14F-4D97-AF65-F5344CB8AC3E}">
        <p14:creationId xmlns:p14="http://schemas.microsoft.com/office/powerpoint/2010/main" val="559046702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SCRIPTION-PHOTO-RIGH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</a:t>
            </a:r>
            <a:r>
              <a:rPr lang="uk-UA" dirty="0"/>
              <a:t> С</a:t>
            </a:r>
            <a:r>
              <a:rPr lang="en-US" dirty="0"/>
              <a:t>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sz="quarter" idx="14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</p:spTree>
    <p:extLst>
      <p:ext uri="{BB962C8B-B14F-4D97-AF65-F5344CB8AC3E}">
        <p14:creationId xmlns:p14="http://schemas.microsoft.com/office/powerpoint/2010/main" val="17807099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-CHAR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85800" y="685801"/>
            <a:ext cx="10820400" cy="685800"/>
          </a:xfrm>
          <a:prstGeom prst="rect">
            <a:avLst/>
          </a:prstGeom>
        </p:spPr>
        <p:txBody>
          <a:bodyPr lIns="0"/>
          <a:lstStyle>
            <a:lvl1pPr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 BE CAPITALIZED</a:t>
            </a:r>
          </a:p>
        </p:txBody>
      </p:sp>
      <p:sp>
        <p:nvSpPr>
          <p:cNvPr id="8" name="TextBox 7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1"/>
          </p:nvPr>
        </p:nvSpPr>
        <p:spPr>
          <a:xfrm>
            <a:off x="685800" y="2057400"/>
            <a:ext cx="10820400" cy="34290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992154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-LEFT-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>
          <a:xfrm>
            <a:off x="685800" y="1382486"/>
            <a:ext cx="3467100" cy="1913709"/>
          </a:xfrm>
          <a:prstGeom prst="rect">
            <a:avLst/>
          </a:prstGeom>
        </p:spPr>
        <p:txBody>
          <a:bodyPr lIns="0"/>
          <a:lstStyle>
            <a:lvl1pPr>
              <a:lnSpc>
                <a:spcPct val="80000"/>
              </a:lnSpc>
              <a:defRPr baseline="0">
                <a:latin typeface="Proxima Nova Black" panose="02000506030000020004" pitchFamily="50" charset="0"/>
              </a:defRPr>
            </a:lvl1pPr>
          </a:lstStyle>
          <a:p>
            <a:r>
              <a:rPr lang="en-US" dirty="0"/>
              <a:t>TITLE TO</a:t>
            </a:r>
            <a:br>
              <a:rPr lang="uk-UA" dirty="0"/>
            </a:br>
            <a:r>
              <a:rPr lang="en-US" dirty="0"/>
              <a:t>BE CAPITA</a:t>
            </a:r>
            <a:br>
              <a:rPr lang="uk-UA" dirty="0"/>
            </a:br>
            <a:r>
              <a:rPr lang="en-US" dirty="0"/>
              <a:t>LIZED</a:t>
            </a:r>
          </a:p>
        </p:txBody>
      </p:sp>
      <p:sp>
        <p:nvSpPr>
          <p:cNvPr id="9" name="TextBox 8"/>
          <p:cNvSpPr txBox="1"/>
          <p:nvPr userDrawn="1"/>
        </p:nvSpPr>
        <p:spPr>
          <a:xfrm>
            <a:off x="9486900" y="236808"/>
            <a:ext cx="21216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1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SoftServe Confidential</a:t>
            </a:r>
          </a:p>
        </p:txBody>
      </p:sp>
      <p:sp>
        <p:nvSpPr>
          <p:cNvPr id="10" name="Text Placeholder 6"/>
          <p:cNvSpPr>
            <a:spLocks noGrp="1"/>
          </p:cNvSpPr>
          <p:nvPr>
            <p:ph type="body" sz="quarter" idx="12" hasCustomPrompt="1"/>
          </p:nvPr>
        </p:nvSpPr>
        <p:spPr>
          <a:xfrm>
            <a:off x="685800" y="3429000"/>
            <a:ext cx="3467100" cy="2057400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ct val="100000"/>
              </a:lnSpc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2pPr>
            <a:lvl3pPr marL="914400" indent="0">
              <a:buNone/>
              <a:defRPr sz="16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3pPr>
            <a:lvl4pPr marL="1371600" indent="0">
              <a:buNone/>
              <a:defRPr sz="14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4pPr>
            <a:lvl5pPr marL="1828800" indent="0">
              <a:buNone/>
              <a:defRPr sz="12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5pPr>
          </a:lstStyle>
          <a:p>
            <a:pPr lvl="0"/>
            <a:r>
              <a:rPr lang="en-US" dirty="0"/>
              <a:t>Click to edit the text </a:t>
            </a:r>
          </a:p>
        </p:txBody>
      </p:sp>
      <p:sp>
        <p:nvSpPr>
          <p:cNvPr id="5" name="Chart Placeholder 4"/>
          <p:cNvSpPr>
            <a:spLocks noGrp="1"/>
          </p:cNvSpPr>
          <p:nvPr>
            <p:ph type="chart" sz="quarter" idx="13"/>
          </p:nvPr>
        </p:nvSpPr>
        <p:spPr>
          <a:xfrm>
            <a:off x="4381500" y="1371600"/>
            <a:ext cx="7124700" cy="411480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02427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13" Type="http://schemas.openxmlformats.org/officeDocument/2006/relationships/slideLayout" Target="../slideLayouts/slideLayout27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6.xml"/><Relationship Id="rId2" Type="http://schemas.openxmlformats.org/officeDocument/2006/relationships/slideLayout" Target="../slideLayouts/slideLayout16.xml"/><Relationship Id="rId16" Type="http://schemas.openxmlformats.org/officeDocument/2006/relationships/image" Target="../media/image3.emf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5" Type="http://schemas.openxmlformats.org/officeDocument/2006/relationships/slideLayout" Target="../slideLayouts/slideLayout19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5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473857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74" r:id="rId2"/>
    <p:sldLayoutId id="2147483652" r:id="rId3"/>
    <p:sldLayoutId id="2147483654" r:id="rId4"/>
    <p:sldLayoutId id="2147483657" r:id="rId5"/>
    <p:sldLayoutId id="2147483661" r:id="rId6"/>
    <p:sldLayoutId id="2147483663" r:id="rId7"/>
    <p:sldLayoutId id="2147483665" r:id="rId8"/>
    <p:sldLayoutId id="2147483667" r:id="rId9"/>
    <p:sldLayoutId id="2147483670" r:id="rId10"/>
    <p:sldLayoutId id="2147483669" r:id="rId11"/>
    <p:sldLayoutId id="2147483671" r:id="rId12"/>
    <p:sldLayoutId id="2147483672" r:id="rId13"/>
    <p:sldLayoutId id="2147483673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432" userDrawn="1">
          <p15:clr>
            <a:srgbClr val="F26B43"/>
          </p15:clr>
        </p15:guide>
        <p15:guide id="4" pos="7248" userDrawn="1">
          <p15:clr>
            <a:srgbClr val="F26B43"/>
          </p15:clr>
        </p15:guide>
        <p15:guide id="5" orient="horz" pos="432" userDrawn="1">
          <p15:clr>
            <a:srgbClr val="F26B43"/>
          </p15:clr>
        </p15:guide>
        <p15:guide id="6" orient="horz" pos="864" userDrawn="1">
          <p15:clr>
            <a:srgbClr val="F26B43"/>
          </p15:clr>
        </p15:guide>
        <p15:guide id="7" orient="horz" pos="3456" userDrawn="1">
          <p15:clr>
            <a:srgbClr val="F26B43"/>
          </p15:clr>
        </p15:guide>
        <p15:guide id="8" orient="horz" pos="3888" userDrawn="1">
          <p15:clr>
            <a:srgbClr val="F26B43"/>
          </p15:clr>
        </p15:guide>
        <p15:guide id="9" pos="1680" userDrawn="1">
          <p15:clr>
            <a:srgbClr val="F26B43"/>
          </p15:clr>
        </p15:guide>
        <p15:guide id="10" pos="1824" userDrawn="1">
          <p15:clr>
            <a:srgbClr val="F26B43"/>
          </p15:clr>
        </p15:guide>
        <p15:guide id="11" pos="2616" userDrawn="1">
          <p15:clr>
            <a:srgbClr val="F26B43"/>
          </p15:clr>
        </p15:guide>
        <p15:guide id="12" pos="3072" userDrawn="1">
          <p15:clr>
            <a:srgbClr val="F26B43"/>
          </p15:clr>
        </p15:guide>
        <p15:guide id="13" pos="2760" userDrawn="1">
          <p15:clr>
            <a:srgbClr val="F26B43"/>
          </p15:clr>
        </p15:guide>
        <p15:guide id="14" pos="3216" userDrawn="1">
          <p15:clr>
            <a:srgbClr val="F26B43"/>
          </p15:clr>
        </p15:guide>
        <p15:guide id="15" pos="4464" userDrawn="1">
          <p15:clr>
            <a:srgbClr val="F26B43"/>
          </p15:clr>
        </p15:guide>
        <p15:guide id="16" pos="4608" userDrawn="1">
          <p15:clr>
            <a:srgbClr val="F26B43"/>
          </p15:clr>
        </p15:guide>
        <p15:guide id="17" pos="4920" userDrawn="1">
          <p15:clr>
            <a:srgbClr val="F26B43"/>
          </p15:clr>
        </p15:guide>
        <p15:guide id="18" pos="5064" userDrawn="1">
          <p15:clr>
            <a:srgbClr val="F26B43"/>
          </p15:clr>
        </p15:guide>
        <p15:guide id="19" pos="5856" userDrawn="1">
          <p15:clr>
            <a:srgbClr val="F26B43"/>
          </p15:clr>
        </p15:guide>
        <p15:guide id="20" pos="6000" userDrawn="1">
          <p15:clr>
            <a:srgbClr val="F26B43"/>
          </p15:clr>
        </p15:guide>
        <p15:guide id="21" orient="horz" pos="1296" userDrawn="1">
          <p15:clr>
            <a:srgbClr val="F26B43"/>
          </p15:clr>
        </p15:guide>
        <p15:guide id="22" orient="horz" pos="1728" userDrawn="1">
          <p15:clr>
            <a:srgbClr val="F26B43"/>
          </p15:clr>
        </p15:guide>
        <p15:guide id="23" pos="3768" userDrawn="1">
          <p15:clr>
            <a:srgbClr val="F26B43"/>
          </p15:clr>
        </p15:guide>
        <p15:guide id="24" pos="3912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16"/>
          <a:stretch>
            <a:fillRect/>
          </a:stretch>
        </p:blipFill>
        <p:spPr>
          <a:xfrm>
            <a:off x="9959145" y="5906728"/>
            <a:ext cx="1547053" cy="265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1371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64" r:id="rId7"/>
    <p:sldLayoutId id="2147483666" r:id="rId8"/>
    <p:sldLayoutId id="2147483683" r:id="rId9"/>
    <p:sldLayoutId id="2147483684" r:id="rId10"/>
    <p:sldLayoutId id="2147483685" r:id="rId11"/>
    <p:sldLayoutId id="2147483686" r:id="rId12"/>
    <p:sldLayoutId id="2147483687" r:id="rId13"/>
    <p:sldLayoutId id="2147483688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hyperlink" Target="https://developer.mozilla.org/ru/docs/Web/JavaScript/Reference/Global_Objects" TargetMode="External"/><Relationship Id="rId3" Type="http://schemas.openxmlformats.org/officeDocument/2006/relationships/hyperlink" Target="https://medium.com/@leonardobrunolima/javascript-tips-apply-vs-call-vs-bind-d738a9e8b4e1" TargetMode="External"/><Relationship Id="rId7" Type="http://schemas.openxmlformats.org/officeDocument/2006/relationships/hyperlink" Target="https://developer.mozilla.org/en-US/docs/Web/JavaScript/Closur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developer.mozilla.org/en-US/docs/Glossary/IIFE" TargetMode="External"/><Relationship Id="rId5" Type="http://schemas.openxmlformats.org/officeDocument/2006/relationships/hyperlink" Target="https://developer.mozilla.org/en-US/docs/Web/JavaScript/Reference/Global_Objects/Function/apply" TargetMode="External"/><Relationship Id="rId4" Type="http://schemas.openxmlformats.org/officeDocument/2006/relationships/hyperlink" Target="https://developer.mozilla.org/en-US/docs/Web/JavaScript/Reference/Global_objects/Function/bind" TargetMode="Externa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-208308" y="174928"/>
            <a:ext cx="12390783" cy="6683071"/>
          </a:xfrm>
        </p:spPr>
        <p:txBody>
          <a:bodyPr/>
          <a:lstStyle/>
          <a:p>
            <a:r>
              <a:rPr lang="en-US" sz="12600" dirty="0"/>
              <a:t>FUNCTIONS Part2</a:t>
            </a:r>
            <a:endParaRPr lang="en-US" sz="12600" b="1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By Volodymyr Karanevych</a:t>
            </a:r>
          </a:p>
        </p:txBody>
      </p:sp>
    </p:spTree>
    <p:extLst>
      <p:ext uri="{BB962C8B-B14F-4D97-AF65-F5344CB8AC3E}">
        <p14:creationId xmlns:p14="http://schemas.microsoft.com/office/powerpoint/2010/main" val="15527564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5801" y="685800"/>
            <a:ext cx="10820400" cy="1714502"/>
          </a:xfrm>
        </p:spPr>
        <p:txBody>
          <a:bodyPr/>
          <a:lstStyle/>
          <a:p>
            <a:r>
              <a:rPr lang="en-US" dirty="0"/>
              <a:t>AGENDA</a:t>
            </a:r>
            <a:endParaRPr lang="uk-UA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2400301"/>
            <a:ext cx="4274820" cy="3810000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Binding and Applying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IIFE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Closures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Predefined functions</a:t>
            </a:r>
          </a:p>
        </p:txBody>
      </p:sp>
    </p:spTree>
    <p:extLst>
      <p:ext uri="{BB962C8B-B14F-4D97-AF65-F5344CB8AC3E}">
        <p14:creationId xmlns:p14="http://schemas.microsoft.com/office/powerpoint/2010/main" val="9583426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0" dirty="0"/>
              <a:t>BINDING &amp; APPLYING</a:t>
            </a:r>
            <a:endParaRPr lang="uk-UA" sz="10000" dirty="0"/>
          </a:p>
        </p:txBody>
      </p:sp>
    </p:spTree>
    <p:extLst>
      <p:ext uri="{BB962C8B-B14F-4D97-AF65-F5344CB8AC3E}">
        <p14:creationId xmlns:p14="http://schemas.microsoft.com/office/powerpoint/2010/main" val="658380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The </a:t>
            </a:r>
            <a:r>
              <a:rPr lang="en-US" b="1" dirty="0"/>
              <a:t>bind()</a:t>
            </a:r>
            <a:r>
              <a:rPr lang="en-US" dirty="0"/>
              <a:t> method returns a new function, allowing you to pass in a this array and any number of arguments. Use it when you want that function to later be called with a certain context like events.</a:t>
            </a:r>
          </a:p>
          <a:p>
            <a:endParaRPr lang="en-US" dirty="0"/>
          </a:p>
          <a:p>
            <a:r>
              <a:rPr lang="en-US" i="1" dirty="0" err="1">
                <a:solidFill>
                  <a:srgbClr val="FF0000"/>
                </a:solidFill>
              </a:rPr>
              <a:t>function.bind</a:t>
            </a:r>
            <a:r>
              <a:rPr lang="en-US" i="1" dirty="0">
                <a:solidFill>
                  <a:srgbClr val="FF0000"/>
                </a:solidFill>
              </a:rPr>
              <a:t>(</a:t>
            </a:r>
            <a:r>
              <a:rPr lang="en-US" i="1" dirty="0" err="1">
                <a:solidFill>
                  <a:srgbClr val="FF0000"/>
                </a:solidFill>
              </a:rPr>
              <a:t>thisArg</a:t>
            </a:r>
            <a:r>
              <a:rPr lang="en-US" i="1" dirty="0">
                <a:solidFill>
                  <a:srgbClr val="FF0000"/>
                </a:solidFill>
              </a:rPr>
              <a:t>[, arg1[, arg2[, ...]]])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BIND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84494993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A6D39-E8C5-4701-B0DA-3B7073F41A66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5800" y="1714502"/>
            <a:ext cx="4787849" cy="276998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let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customer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= {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name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: ‘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Igor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’};</a:t>
            </a: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</a:b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function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greeting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text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) {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</a:b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 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console.log(`${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text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} ${this.name}`);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</a:b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}</a:t>
            </a: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let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hello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gor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=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greeting.bind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customer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);</a:t>
            </a:r>
            <a:b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</a:b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hello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Igor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('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Hello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'); // </a:t>
            </a:r>
            <a:r>
              <a:rPr kumimoji="0" lang="uk-UA" altLang="uk-UA" b="0" i="0" u="none" strike="noStrike" cap="none" normalizeH="0" baseline="0" dirty="0" err="1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Hello</a:t>
            </a:r>
            <a:r>
              <a:rPr kumimoji="0" lang="uk-UA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</a:t>
            </a:r>
            <a:r>
              <a:rPr kumimoji="0" lang="en-US" altLang="uk-UA" b="0" i="0" u="none" strike="noStrike" cap="none" normalizeH="0" baseline="0" dirty="0">
                <a:ln>
                  <a:noFill/>
                </a:ln>
                <a:solidFill>
                  <a:schemeClr val="accent6">
                    <a:lumMod val="75000"/>
                  </a:schemeClr>
                </a:solidFill>
                <a:effectLst/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Igor</a:t>
            </a:r>
          </a:p>
        </p:txBody>
      </p:sp>
    </p:spTree>
    <p:extLst>
      <p:ext uri="{BB962C8B-B14F-4D97-AF65-F5344CB8AC3E}">
        <p14:creationId xmlns:p14="http://schemas.microsoft.com/office/powerpoint/2010/main" val="79056679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A6D39-E8C5-4701-B0DA-3B7073F41A66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5800" y="1125366"/>
            <a:ext cx="4875694" cy="430887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this.x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= 9;  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var module = {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 x: 81,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getX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: function() { return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this.x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 }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};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module.getX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();  // 81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var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retrieveX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=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module.getX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;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retrieveX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();   // 9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var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boundGetX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 = </a:t>
            </a: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retrieveX.bind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(module);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boundGetX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();  // 81</a:t>
            </a: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12446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apply()</a:t>
            </a:r>
            <a:r>
              <a:rPr lang="en-US" dirty="0"/>
              <a:t> method calls a function with a given this value, and arguments provided as an array </a:t>
            </a:r>
            <a:r>
              <a:rPr lang="en-US" i="1" dirty="0"/>
              <a:t>(or an array-like object).</a:t>
            </a:r>
          </a:p>
          <a:p>
            <a:endParaRPr lang="en-US" i="1" dirty="0"/>
          </a:p>
          <a:p>
            <a:r>
              <a:rPr lang="en-US" i="1" dirty="0" err="1">
                <a:solidFill>
                  <a:srgbClr val="FF0000"/>
                </a:solidFill>
              </a:rPr>
              <a:t>function.apply</a:t>
            </a:r>
            <a:r>
              <a:rPr lang="en-US" i="1" dirty="0">
                <a:solidFill>
                  <a:srgbClr val="FF0000"/>
                </a:solidFill>
              </a:rPr>
              <a:t>(</a:t>
            </a:r>
            <a:r>
              <a:rPr lang="en-US" i="1" dirty="0" err="1">
                <a:solidFill>
                  <a:srgbClr val="FF0000"/>
                </a:solidFill>
              </a:rPr>
              <a:t>thisArg</a:t>
            </a:r>
            <a:r>
              <a:rPr lang="en-US" i="1" dirty="0">
                <a:solidFill>
                  <a:srgbClr val="FF0000"/>
                </a:solidFill>
              </a:rPr>
              <a:t>, [</a:t>
            </a:r>
            <a:r>
              <a:rPr lang="en-US" i="1" dirty="0" err="1">
                <a:solidFill>
                  <a:srgbClr val="FF0000"/>
                </a:solidFill>
              </a:rPr>
              <a:t>argsArray</a:t>
            </a:r>
            <a:r>
              <a:rPr lang="en-US" i="1" dirty="0">
                <a:solidFill>
                  <a:srgbClr val="FF0000"/>
                </a:solidFill>
              </a:rPr>
              <a:t>])</a:t>
            </a:r>
          </a:p>
          <a:p>
            <a:endParaRPr lang="uk-UA" i="1" dirty="0"/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let numbers = [5, 6, 2, 3, 7];</a:t>
            </a:r>
            <a:endParaRPr lang="uk-UA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let max 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Math.max.apply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(null, numbers);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console.log(max);// 7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let min 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Math.min.apply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(null, numbers);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console.log(min);// 2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APPLY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609819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A5A6D39-E8C5-4701-B0DA-3B7073F41A66}"/>
              </a:ext>
            </a:extLst>
          </p:cNvPr>
          <p:cNvSpPr>
            <a:spLocks noGrp="1" noChangeArrowheads="1"/>
          </p:cNvSpPr>
          <p:nvPr>
            <p:ph type="body" sz="quarter" idx="10"/>
          </p:nvPr>
        </p:nvSpPr>
        <p:spPr bwMode="auto">
          <a:xfrm>
            <a:off x="685800" y="2202585"/>
            <a:ext cx="4333366" cy="215443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var array = ['a', 'b’];</a:t>
            </a:r>
            <a:endParaRPr lang="uk-UA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var elements = [0, 1, 2];</a:t>
            </a:r>
            <a:endParaRPr lang="uk-UA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 err="1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array.push.apply</a:t>
            </a: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(array, elements);</a:t>
            </a:r>
            <a:endParaRPr lang="uk-UA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uk-UA" dirty="0">
              <a:solidFill>
                <a:schemeClr val="accent6">
                  <a:lumMod val="75000"/>
                </a:schemeClr>
              </a:solidFill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uk-UA" dirty="0">
                <a:solidFill>
                  <a:schemeClr val="accent6">
                    <a:lumMod val="75000"/>
                  </a:schemeClr>
                </a:solidFill>
                <a:latin typeface="Open Sans" panose="020B0604020202020204" charset="0"/>
                <a:ea typeface="Open Sans" panose="020B0604020202020204" charset="0"/>
                <a:cs typeface="Open Sans" panose="020B0604020202020204" charset="0"/>
              </a:rPr>
              <a:t>console.log(array); // ["a", "b", 0, 1, 2]</a:t>
            </a:r>
            <a:endParaRPr kumimoji="0" lang="en-US" altLang="uk-UA" b="0" i="0" u="none" strike="noStrike" cap="none" normalizeH="0" baseline="0" dirty="0">
              <a:ln>
                <a:noFill/>
              </a:ln>
              <a:solidFill>
                <a:schemeClr val="accent6">
                  <a:lumMod val="75000"/>
                </a:schemeClr>
              </a:solidFill>
              <a:effectLst/>
              <a:latin typeface="Open Sans" panose="020B0604020202020204" charset="0"/>
              <a:ea typeface="Open Sans" panose="020B0604020202020204" charset="0"/>
              <a:cs typeface="Open Sans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947172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0" dirty="0"/>
              <a:t>IIFE</a:t>
            </a:r>
            <a:endParaRPr lang="uk-UA" sz="10000" dirty="0"/>
          </a:p>
        </p:txBody>
      </p:sp>
    </p:spTree>
    <p:extLst>
      <p:ext uri="{BB962C8B-B14F-4D97-AF65-F5344CB8AC3E}">
        <p14:creationId xmlns:p14="http://schemas.microsoft.com/office/powerpoint/2010/main" val="7553061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An </a:t>
            </a:r>
            <a:r>
              <a:rPr lang="en-US" b="1" dirty="0"/>
              <a:t>IIFE</a:t>
            </a:r>
            <a:r>
              <a:rPr lang="en-US" dirty="0"/>
              <a:t> (Immediately Invoked Function Expression) is a JavaScript function that runs as soon as it is defined.</a:t>
            </a:r>
            <a:endParaRPr lang="en-US" i="1" dirty="0"/>
          </a:p>
          <a:p>
            <a:endParaRPr lang="uk-UA" i="1" dirty="0"/>
          </a:p>
          <a:p>
            <a:r>
              <a:rPr lang="en-US" dirty="0">
                <a:solidFill>
                  <a:srgbClr val="0070C0"/>
                </a:solidFill>
              </a:rPr>
              <a:t>(function () { </a:t>
            </a:r>
          </a:p>
          <a:p>
            <a:r>
              <a:rPr lang="en-US" dirty="0">
                <a:solidFill>
                  <a:srgbClr val="0070C0"/>
                </a:solidFill>
              </a:rPr>
              <a:t>    // Code goes here </a:t>
            </a:r>
          </a:p>
          <a:p>
            <a:r>
              <a:rPr lang="en-US" dirty="0">
                <a:solidFill>
                  <a:srgbClr val="0070C0"/>
                </a:solidFill>
              </a:rPr>
              <a:t>})();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IIFE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3142654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(function sum(a, b) {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console.log(a + b); // 5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})(2, 3);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4514160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0" dirty="0"/>
              <a:t>CLOSURES</a:t>
            </a:r>
            <a:endParaRPr lang="uk-UA" sz="10000" dirty="0"/>
          </a:p>
        </p:txBody>
      </p:sp>
    </p:spTree>
    <p:extLst>
      <p:ext uri="{BB962C8B-B14F-4D97-AF65-F5344CB8AC3E}">
        <p14:creationId xmlns:p14="http://schemas.microsoft.com/office/powerpoint/2010/main" val="341111754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closure</a:t>
            </a:r>
            <a:r>
              <a:rPr lang="en-US" dirty="0"/>
              <a:t> is the combination of a function and the lexical environment within which that function was declared.</a:t>
            </a:r>
          </a:p>
          <a:p>
            <a:endParaRPr lang="uk-UA" i="1" dirty="0"/>
          </a:p>
          <a:p>
            <a:r>
              <a:rPr lang="en-US" dirty="0">
                <a:solidFill>
                  <a:srgbClr val="0070C0"/>
                </a:solidFill>
              </a:rPr>
              <a:t>function </a:t>
            </a:r>
            <a:r>
              <a:rPr lang="en-US" dirty="0" err="1">
                <a:solidFill>
                  <a:srgbClr val="0070C0"/>
                </a:solidFill>
              </a:rPr>
              <a:t>init</a:t>
            </a:r>
            <a:r>
              <a:rPr lang="en-US" dirty="0">
                <a:solidFill>
                  <a:srgbClr val="0070C0"/>
                </a:solidFill>
              </a:rPr>
              <a:t>() {</a:t>
            </a:r>
          </a:p>
          <a:p>
            <a:r>
              <a:rPr lang="en-US" dirty="0">
                <a:solidFill>
                  <a:srgbClr val="0070C0"/>
                </a:solidFill>
              </a:rPr>
              <a:t>  var name = 'Mozilla’; </a:t>
            </a:r>
          </a:p>
          <a:p>
            <a:r>
              <a:rPr lang="en-US" dirty="0">
                <a:solidFill>
                  <a:srgbClr val="0070C0"/>
                </a:solidFill>
              </a:rPr>
              <a:t>function </a:t>
            </a:r>
            <a:r>
              <a:rPr lang="en-US" dirty="0" err="1">
                <a:solidFill>
                  <a:srgbClr val="0070C0"/>
                </a:solidFill>
              </a:rPr>
              <a:t>displayName</a:t>
            </a:r>
            <a:r>
              <a:rPr lang="en-US" dirty="0">
                <a:solidFill>
                  <a:srgbClr val="0070C0"/>
                </a:solidFill>
              </a:rPr>
              <a:t>() { </a:t>
            </a:r>
          </a:p>
          <a:p>
            <a:r>
              <a:rPr lang="en-US" dirty="0">
                <a:solidFill>
                  <a:srgbClr val="0070C0"/>
                </a:solidFill>
              </a:rPr>
              <a:t>    console.log(name);   // Mozilla</a:t>
            </a:r>
          </a:p>
          <a:p>
            <a:r>
              <a:rPr lang="en-US" dirty="0">
                <a:solidFill>
                  <a:srgbClr val="0070C0"/>
                </a:solidFill>
              </a:rPr>
              <a:t>  }</a:t>
            </a:r>
          </a:p>
          <a:p>
            <a:r>
              <a:rPr lang="en-US" dirty="0">
                <a:solidFill>
                  <a:srgbClr val="0070C0"/>
                </a:solidFill>
              </a:rPr>
              <a:t>  </a:t>
            </a:r>
            <a:r>
              <a:rPr lang="en-US" dirty="0" err="1">
                <a:solidFill>
                  <a:srgbClr val="0070C0"/>
                </a:solidFill>
              </a:rPr>
              <a:t>displayName</a:t>
            </a:r>
            <a:r>
              <a:rPr lang="en-US" dirty="0">
                <a:solidFill>
                  <a:srgbClr val="0070C0"/>
                </a:solidFill>
              </a:rPr>
              <a:t>();</a:t>
            </a:r>
          </a:p>
          <a:p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r>
              <a:rPr lang="en-US" dirty="0" err="1">
                <a:solidFill>
                  <a:srgbClr val="0070C0"/>
                </a:solidFill>
              </a:rPr>
              <a:t>init</a:t>
            </a:r>
            <a:r>
              <a:rPr lang="en-US" dirty="0">
                <a:solidFill>
                  <a:srgbClr val="0070C0"/>
                </a:solidFill>
              </a:rPr>
              <a:t>();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CLOSURES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0374229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070559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function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makeAdder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(x) {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console.log('x = ' + x);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return function(y) {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console.log('y = ' + y);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  return x + y;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  };</a:t>
            </a: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}</a:t>
            </a:r>
          </a:p>
          <a:p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var add5 =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makeAdder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(5);</a:t>
            </a:r>
          </a:p>
          <a:p>
            <a:endParaRPr lang="en-US" dirty="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accent6">
                    <a:lumMod val="75000"/>
                  </a:schemeClr>
                </a:solidFill>
              </a:rPr>
              <a:t>console.log(add5(2));  // 7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81257235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0000" dirty="0"/>
              <a:t>PREDEFINED FUNCTIONS</a:t>
            </a:r>
            <a:endParaRPr lang="uk-UA" sz="10000" dirty="0"/>
          </a:p>
        </p:txBody>
      </p:sp>
    </p:spTree>
    <p:extLst>
      <p:ext uri="{BB962C8B-B14F-4D97-AF65-F5344CB8AC3E}">
        <p14:creationId xmlns:p14="http://schemas.microsoft.com/office/powerpoint/2010/main" val="82512018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685800" y="1714502"/>
            <a:ext cx="9281160" cy="3810000"/>
          </a:xfrm>
        </p:spPr>
        <p:txBody>
          <a:bodyPr/>
          <a:lstStyle/>
          <a:p>
            <a:r>
              <a:rPr lang="en-US" dirty="0"/>
              <a:t>JavaScript has several top-level, built-in functions: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eval()</a:t>
            </a:r>
            <a:r>
              <a:rPr lang="en-US" dirty="0"/>
              <a:t> method evaluates JavaScript code represented as a string.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console.log(eval('2 + 2’));  // 4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console.log(eval('2 + 2') === eval('4’));  // true</a:t>
            </a:r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685800" y="0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r>
              <a:rPr lang="en-US" sz="4400" dirty="0"/>
              <a:t>PREDEFINED FUNCTIONS</a:t>
            </a:r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08423332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global </a:t>
            </a:r>
            <a:r>
              <a:rPr lang="en-US" b="1" dirty="0" err="1"/>
              <a:t>isFinite</a:t>
            </a:r>
            <a:r>
              <a:rPr lang="en-US" b="1" dirty="0"/>
              <a:t>() </a:t>
            </a:r>
            <a:r>
              <a:rPr lang="en-US" dirty="0"/>
              <a:t>function determines whether the passed value is a finite number. If needed, the parameter is first converted to a number.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function inf(x) {</a:t>
            </a:r>
          </a:p>
          <a:p>
            <a:r>
              <a:rPr lang="en-US" dirty="0">
                <a:solidFill>
                  <a:srgbClr val="0070C0"/>
                </a:solidFill>
              </a:rPr>
              <a:t>  if (</a:t>
            </a:r>
            <a:r>
              <a:rPr lang="en-US" dirty="0" err="1">
                <a:solidFill>
                  <a:srgbClr val="0070C0"/>
                </a:solidFill>
              </a:rPr>
              <a:t>isFinite</a:t>
            </a:r>
            <a:r>
              <a:rPr lang="en-US" dirty="0">
                <a:solidFill>
                  <a:srgbClr val="0070C0"/>
                </a:solidFill>
              </a:rPr>
              <a:t>(1000 / x)) {</a:t>
            </a:r>
          </a:p>
          <a:p>
            <a:r>
              <a:rPr lang="en-US" dirty="0">
                <a:solidFill>
                  <a:srgbClr val="0070C0"/>
                </a:solidFill>
              </a:rPr>
              <a:t>    return 'Number is NOT Infinity.';</a:t>
            </a:r>
          </a:p>
          <a:p>
            <a:r>
              <a:rPr lang="en-US" dirty="0">
                <a:solidFill>
                  <a:srgbClr val="0070C0"/>
                </a:solidFill>
              </a:rPr>
              <a:t>  }</a:t>
            </a:r>
          </a:p>
          <a:p>
            <a:r>
              <a:rPr lang="en-US" dirty="0">
                <a:solidFill>
                  <a:srgbClr val="0070C0"/>
                </a:solidFill>
              </a:rPr>
              <a:t>  return "Number is Infinity!";</a:t>
            </a:r>
          </a:p>
          <a:p>
            <a:r>
              <a:rPr lang="en-US" dirty="0">
                <a:solidFill>
                  <a:srgbClr val="0070C0"/>
                </a:solidFill>
              </a:rPr>
              <a:t>}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console.log(inf(0));  // "Number is Infinity!"</a:t>
            </a:r>
          </a:p>
          <a:p>
            <a:r>
              <a:rPr lang="en-US" dirty="0">
                <a:solidFill>
                  <a:srgbClr val="0070C0"/>
                </a:solidFill>
              </a:rPr>
              <a:t>console.log(inf(1));  // "Number is NOT Infinity."</a:t>
            </a:r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4084128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 err="1"/>
              <a:t>isNaN</a:t>
            </a:r>
            <a:r>
              <a:rPr lang="en-US" b="1" dirty="0"/>
              <a:t>()</a:t>
            </a:r>
            <a:r>
              <a:rPr lang="en-US" dirty="0"/>
              <a:t> function determines whether a value is </a:t>
            </a:r>
            <a:r>
              <a:rPr lang="en-US" b="1" dirty="0" err="1"/>
              <a:t>NaN</a:t>
            </a:r>
            <a:r>
              <a:rPr lang="en-US" dirty="0"/>
              <a:t> or not.</a:t>
            </a:r>
          </a:p>
          <a:p>
            <a:endParaRPr lang="en-US" dirty="0"/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 err="1">
                <a:solidFill>
                  <a:srgbClr val="0070C0"/>
                </a:solidFill>
              </a:rPr>
              <a:t>NaN</a:t>
            </a:r>
            <a:r>
              <a:rPr lang="en-US" dirty="0">
                <a:solidFill>
                  <a:srgbClr val="0070C0"/>
                </a:solidFill>
              </a:rPr>
              <a:t>);       // true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(undefined); // true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({});        // true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(true);      // false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(null);      // false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(37);        // false</a:t>
            </a:r>
          </a:p>
          <a:p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110619569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>
                <a:solidFill>
                  <a:srgbClr val="0070C0"/>
                </a:solidFill>
              </a:rPr>
              <a:t>// strings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('37');      // false: "37" is converted to the number 37 which is not </a:t>
            </a:r>
            <a:r>
              <a:rPr lang="en-US" dirty="0" err="1">
                <a:solidFill>
                  <a:srgbClr val="0070C0"/>
                </a:solidFill>
              </a:rPr>
              <a:t>NaN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("37,5");    // true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('123ABC');  // true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('');        // false: the empty string is converted to 0 which is not </a:t>
            </a:r>
            <a:r>
              <a:rPr lang="en-US" dirty="0" err="1">
                <a:solidFill>
                  <a:srgbClr val="0070C0"/>
                </a:solidFill>
              </a:rPr>
              <a:t>NaN</a:t>
            </a:r>
            <a:endParaRPr lang="en-US" dirty="0">
              <a:solidFill>
                <a:srgbClr val="0070C0"/>
              </a:solidFill>
            </a:endParaRP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// dates</a:t>
            </a:r>
          </a:p>
          <a:p>
            <a:r>
              <a:rPr lang="en-US" dirty="0" err="1">
                <a:solidFill>
                  <a:srgbClr val="0070C0"/>
                </a:solidFill>
              </a:rPr>
              <a:t>isNaN</a:t>
            </a:r>
            <a:r>
              <a:rPr lang="en-US" dirty="0">
                <a:solidFill>
                  <a:srgbClr val="0070C0"/>
                </a:solidFill>
              </a:rPr>
              <a:t>(new Date()); // false</a:t>
            </a:r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242312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 err="1"/>
              <a:t>parseInt</a:t>
            </a:r>
            <a:r>
              <a:rPr lang="en-US" b="1" dirty="0"/>
              <a:t>() </a:t>
            </a:r>
            <a:r>
              <a:rPr lang="en-US" dirty="0"/>
              <a:t>function parses a string and returns an integer.</a:t>
            </a:r>
          </a:p>
          <a:p>
            <a:r>
              <a:rPr lang="fr-FR" dirty="0">
                <a:solidFill>
                  <a:srgbClr val="0070C0"/>
                </a:solidFill>
              </a:rPr>
              <a:t>parseInt("10"); // 10</a:t>
            </a:r>
          </a:p>
          <a:p>
            <a:r>
              <a:rPr lang="fr-FR" dirty="0">
                <a:solidFill>
                  <a:srgbClr val="0070C0"/>
                </a:solidFill>
              </a:rPr>
              <a:t>parseInt("10.33");  //10</a:t>
            </a:r>
          </a:p>
          <a:p>
            <a:r>
              <a:rPr lang="fr-FR" dirty="0">
                <a:solidFill>
                  <a:srgbClr val="0070C0"/>
                </a:solidFill>
              </a:rPr>
              <a:t>parseInt("34 45 66"); //34</a:t>
            </a:r>
          </a:p>
          <a:p>
            <a:endParaRPr lang="fr-FR" dirty="0">
              <a:solidFill>
                <a:srgbClr val="0070C0"/>
              </a:solidFill>
            </a:endParaRPr>
          </a:p>
          <a:p>
            <a:r>
              <a:rPr lang="en-US" dirty="0"/>
              <a:t>The </a:t>
            </a:r>
            <a:r>
              <a:rPr lang="en-US" b="1" dirty="0" err="1"/>
              <a:t>parseFloat</a:t>
            </a:r>
            <a:r>
              <a:rPr lang="en-US" b="1" dirty="0"/>
              <a:t>() </a:t>
            </a:r>
            <a:r>
              <a:rPr lang="en-US" dirty="0"/>
              <a:t>function parses a string and returns a floating point number.</a:t>
            </a:r>
          </a:p>
          <a:p>
            <a:r>
              <a:rPr lang="en-US" dirty="0" err="1">
                <a:solidFill>
                  <a:srgbClr val="0070C0"/>
                </a:solidFill>
              </a:rPr>
              <a:t>parseFloat</a:t>
            </a:r>
            <a:r>
              <a:rPr lang="en-US" dirty="0">
                <a:solidFill>
                  <a:srgbClr val="0070C0"/>
                </a:solidFill>
              </a:rPr>
              <a:t>("10.00"); // 10</a:t>
            </a:r>
          </a:p>
          <a:p>
            <a:r>
              <a:rPr lang="en-US" dirty="0" err="1">
                <a:solidFill>
                  <a:srgbClr val="0070C0"/>
                </a:solidFill>
              </a:rPr>
              <a:t>parseFloat</a:t>
            </a:r>
            <a:r>
              <a:rPr lang="en-US" dirty="0">
                <a:solidFill>
                  <a:srgbClr val="0070C0"/>
                </a:solidFill>
              </a:rPr>
              <a:t>("10.33"); // 10.33</a:t>
            </a:r>
          </a:p>
          <a:p>
            <a:r>
              <a:rPr lang="en-US" dirty="0" err="1">
                <a:solidFill>
                  <a:srgbClr val="0070C0"/>
                </a:solidFill>
              </a:rPr>
              <a:t>parseFloat</a:t>
            </a:r>
            <a:r>
              <a:rPr lang="en-US" dirty="0">
                <a:solidFill>
                  <a:srgbClr val="0070C0"/>
                </a:solidFill>
              </a:rPr>
              <a:t>("34 45 66"); // 34</a:t>
            </a:r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39245508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/>
              <a:t>Number() </a:t>
            </a:r>
            <a:r>
              <a:rPr lang="en-US" dirty="0"/>
              <a:t>function converts an object's value to a number.</a:t>
            </a:r>
          </a:p>
          <a:p>
            <a:r>
              <a:rPr lang="en-US" dirty="0">
                <a:solidFill>
                  <a:srgbClr val="0070C0"/>
                </a:solidFill>
              </a:rPr>
              <a:t>Number(true); // 1</a:t>
            </a:r>
          </a:p>
          <a:p>
            <a:r>
              <a:rPr lang="en-US" dirty="0">
                <a:solidFill>
                  <a:srgbClr val="0070C0"/>
                </a:solidFill>
              </a:rPr>
              <a:t>Number(false); // 0</a:t>
            </a:r>
          </a:p>
          <a:p>
            <a:r>
              <a:rPr lang="en-US" dirty="0">
                <a:solidFill>
                  <a:srgbClr val="0070C0"/>
                </a:solidFill>
              </a:rPr>
              <a:t>Number('999’); // 999</a:t>
            </a:r>
          </a:p>
          <a:p>
            <a:r>
              <a:rPr lang="en-US" dirty="0">
                <a:solidFill>
                  <a:srgbClr val="0070C0"/>
                </a:solidFill>
              </a:rPr>
              <a:t>Number('555 666’) // </a:t>
            </a:r>
            <a:r>
              <a:rPr lang="en-US" dirty="0" err="1">
                <a:solidFill>
                  <a:srgbClr val="0070C0"/>
                </a:solidFill>
              </a:rPr>
              <a:t>NaN</a:t>
            </a:r>
            <a:endParaRPr lang="en-US" dirty="0">
              <a:solidFill>
                <a:srgbClr val="0070C0"/>
              </a:solidFill>
            </a:endParaRPr>
          </a:p>
          <a:p>
            <a:endParaRPr lang="fr-FR" dirty="0">
              <a:solidFill>
                <a:srgbClr val="0070C0"/>
              </a:solidFill>
            </a:endParaRPr>
          </a:p>
          <a:p>
            <a:r>
              <a:rPr lang="en-US" dirty="0"/>
              <a:t>The </a:t>
            </a:r>
            <a:r>
              <a:rPr lang="en-US" b="1" dirty="0"/>
              <a:t>String() </a:t>
            </a:r>
            <a:r>
              <a:rPr lang="en-US" dirty="0"/>
              <a:t>function convert different objects to strings.</a:t>
            </a:r>
          </a:p>
          <a:p>
            <a:r>
              <a:rPr lang="en-US" dirty="0">
                <a:solidFill>
                  <a:srgbClr val="0070C0"/>
                </a:solidFill>
              </a:rPr>
              <a:t>String(Boolean(0)); // false</a:t>
            </a:r>
          </a:p>
          <a:p>
            <a:r>
              <a:rPr lang="en-US" dirty="0">
                <a:solidFill>
                  <a:srgbClr val="0070C0"/>
                </a:solidFill>
              </a:rPr>
              <a:t>String(Boolean(1)); // true</a:t>
            </a:r>
          </a:p>
          <a:p>
            <a:r>
              <a:rPr lang="en-US" dirty="0">
                <a:solidFill>
                  <a:srgbClr val="0070C0"/>
                </a:solidFill>
              </a:rPr>
              <a:t>String(new Date()); // Thu May 16 2019 18:58:19 GMT+0300 (</a:t>
            </a:r>
            <a:r>
              <a:rPr lang="uk-UA" dirty="0">
                <a:solidFill>
                  <a:srgbClr val="0070C0"/>
                </a:solidFill>
              </a:rPr>
              <a:t>за східноєвропейським літнім часом)</a:t>
            </a:r>
            <a:r>
              <a:rPr lang="en-US" dirty="0">
                <a:solidFill>
                  <a:srgbClr val="0070C0"/>
                </a:solidFill>
              </a:rPr>
              <a:t> </a:t>
            </a:r>
          </a:p>
          <a:p>
            <a:r>
              <a:rPr lang="en-US" dirty="0">
                <a:solidFill>
                  <a:srgbClr val="0070C0"/>
                </a:solidFill>
              </a:rPr>
              <a:t>String(12345); // 12345</a:t>
            </a:r>
            <a:endParaRPr lang="uk-UA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0373924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 err="1"/>
              <a:t>encodeURI</a:t>
            </a:r>
            <a:r>
              <a:rPr lang="en-US" b="1" dirty="0"/>
              <a:t>() / </a:t>
            </a:r>
            <a:r>
              <a:rPr lang="en-US" b="1" dirty="0" err="1"/>
              <a:t>decodeURI</a:t>
            </a:r>
            <a:r>
              <a:rPr lang="en-US" b="1" dirty="0"/>
              <a:t>() </a:t>
            </a:r>
            <a:r>
              <a:rPr lang="en-US" dirty="0"/>
              <a:t>functions encodes / decodes special characters, except: </a:t>
            </a:r>
            <a:r>
              <a:rPr lang="en-US" dirty="0">
                <a:solidFill>
                  <a:srgbClr val="FF0000"/>
                </a:solidFill>
              </a:rPr>
              <a:t>, / ? : @ &amp; = + $ #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var </a:t>
            </a:r>
            <a:r>
              <a:rPr lang="en-US" dirty="0" err="1">
                <a:solidFill>
                  <a:srgbClr val="0070C0"/>
                </a:solidFill>
              </a:rPr>
              <a:t>uri</a:t>
            </a:r>
            <a:r>
              <a:rPr lang="en-US" dirty="0">
                <a:solidFill>
                  <a:srgbClr val="0070C0"/>
                </a:solidFill>
              </a:rPr>
              <a:t> = "https://www.google.com/search?</a:t>
            </a:r>
            <a:r>
              <a:rPr lang="uk-UA" dirty="0">
                <a:solidFill>
                  <a:srgbClr val="0070C0"/>
                </a:solidFill>
              </a:rPr>
              <a:t>борщ";</a:t>
            </a:r>
            <a:endParaRPr lang="en-US" dirty="0">
              <a:solidFill>
                <a:srgbClr val="0070C0"/>
              </a:solidFill>
            </a:endParaRPr>
          </a:p>
          <a:p>
            <a:endParaRPr lang="uk-UA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var res = </a:t>
            </a:r>
            <a:r>
              <a:rPr lang="en-US" dirty="0" err="1">
                <a:solidFill>
                  <a:srgbClr val="0070C0"/>
                </a:solidFill>
              </a:rPr>
              <a:t>encodeURI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 err="1">
                <a:solidFill>
                  <a:srgbClr val="0070C0"/>
                </a:solidFill>
              </a:rPr>
              <a:t>uri</a:t>
            </a:r>
            <a:r>
              <a:rPr lang="en-US" dirty="0">
                <a:solidFill>
                  <a:srgbClr val="0070C0"/>
                </a:solidFill>
              </a:rPr>
              <a:t>); // https://www.google.com/search?%D0%B1%D0%BE%D1%80%D1%89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decodeURI</a:t>
            </a:r>
            <a:r>
              <a:rPr lang="en-US" dirty="0">
                <a:solidFill>
                  <a:srgbClr val="0070C0"/>
                </a:solidFill>
              </a:rPr>
              <a:t>(res);</a:t>
            </a:r>
            <a:r>
              <a:rPr lang="fr-FR" dirty="0">
                <a:solidFill>
                  <a:srgbClr val="0070C0"/>
                </a:solidFill>
              </a:rPr>
              <a:t> // </a:t>
            </a:r>
            <a:r>
              <a:rPr lang="en-US" dirty="0">
                <a:solidFill>
                  <a:srgbClr val="0070C0"/>
                </a:solidFill>
              </a:rPr>
              <a:t>https://www.google.com/search?</a:t>
            </a:r>
            <a:r>
              <a:rPr lang="uk-UA" dirty="0">
                <a:solidFill>
                  <a:srgbClr val="0070C0"/>
                </a:solidFill>
              </a:rPr>
              <a:t>борщ</a:t>
            </a:r>
            <a:endParaRPr lang="en-US" dirty="0">
              <a:solidFill>
                <a:srgbClr val="0070C0"/>
              </a:solidFill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2116610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801710" y="1068947"/>
            <a:ext cx="9281160" cy="3810000"/>
          </a:xfrm>
        </p:spPr>
        <p:txBody>
          <a:bodyPr/>
          <a:lstStyle/>
          <a:p>
            <a:r>
              <a:rPr lang="en-US" dirty="0"/>
              <a:t>The </a:t>
            </a:r>
            <a:r>
              <a:rPr lang="en-US" b="1" dirty="0" err="1"/>
              <a:t>encodeURIComponent</a:t>
            </a:r>
            <a:r>
              <a:rPr lang="en-US" b="1" dirty="0"/>
              <a:t>() / </a:t>
            </a:r>
            <a:r>
              <a:rPr lang="en-US" b="1" dirty="0" err="1"/>
              <a:t>decodeURIComponent</a:t>
            </a:r>
            <a:r>
              <a:rPr lang="en-US" b="1" dirty="0"/>
              <a:t>() </a:t>
            </a:r>
            <a:r>
              <a:rPr lang="en-US" dirty="0"/>
              <a:t>functions can encode / decode special characters: </a:t>
            </a:r>
            <a:r>
              <a:rPr lang="en-US" dirty="0">
                <a:solidFill>
                  <a:srgbClr val="FF0000"/>
                </a:solidFill>
              </a:rPr>
              <a:t>, / ? : @ &amp; = + $ #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>
                <a:solidFill>
                  <a:srgbClr val="0070C0"/>
                </a:solidFill>
              </a:rPr>
              <a:t>var </a:t>
            </a:r>
            <a:r>
              <a:rPr lang="en-US" dirty="0" err="1">
                <a:solidFill>
                  <a:srgbClr val="0070C0"/>
                </a:solidFill>
              </a:rPr>
              <a:t>uri</a:t>
            </a:r>
            <a:r>
              <a:rPr lang="en-US" dirty="0">
                <a:solidFill>
                  <a:srgbClr val="0070C0"/>
                </a:solidFill>
              </a:rPr>
              <a:t> = "tryit.asp?</a:t>
            </a:r>
            <a:r>
              <a:rPr lang="uk-UA" dirty="0">
                <a:solidFill>
                  <a:srgbClr val="0070C0"/>
                </a:solidFill>
              </a:rPr>
              <a:t>";</a:t>
            </a:r>
            <a:endParaRPr lang="en-US" dirty="0">
              <a:solidFill>
                <a:srgbClr val="0070C0"/>
              </a:solidFill>
            </a:endParaRPr>
          </a:p>
          <a:p>
            <a:endParaRPr lang="uk-UA" dirty="0">
              <a:solidFill>
                <a:srgbClr val="0070C0"/>
              </a:solidFill>
            </a:endParaRPr>
          </a:p>
          <a:p>
            <a:r>
              <a:rPr lang="en-US" dirty="0">
                <a:solidFill>
                  <a:srgbClr val="0070C0"/>
                </a:solidFill>
              </a:rPr>
              <a:t>var res = </a:t>
            </a:r>
            <a:r>
              <a:rPr lang="en-US" dirty="0" err="1">
                <a:solidFill>
                  <a:srgbClr val="0070C0"/>
                </a:solidFill>
              </a:rPr>
              <a:t>encodeURIComponent</a:t>
            </a:r>
            <a:r>
              <a:rPr lang="en-US" dirty="0">
                <a:solidFill>
                  <a:srgbClr val="0070C0"/>
                </a:solidFill>
              </a:rPr>
              <a:t>(</a:t>
            </a:r>
            <a:r>
              <a:rPr lang="en-US" dirty="0" err="1">
                <a:solidFill>
                  <a:srgbClr val="0070C0"/>
                </a:solidFill>
              </a:rPr>
              <a:t>uri</a:t>
            </a:r>
            <a:r>
              <a:rPr lang="en-US" dirty="0">
                <a:solidFill>
                  <a:srgbClr val="0070C0"/>
                </a:solidFill>
              </a:rPr>
              <a:t>); // tryit.asp%3F</a:t>
            </a:r>
          </a:p>
          <a:p>
            <a:endParaRPr lang="en-US" dirty="0">
              <a:solidFill>
                <a:srgbClr val="0070C0"/>
              </a:solidFill>
            </a:endParaRPr>
          </a:p>
          <a:p>
            <a:r>
              <a:rPr lang="en-US" dirty="0" err="1">
                <a:solidFill>
                  <a:srgbClr val="0070C0"/>
                </a:solidFill>
              </a:rPr>
              <a:t>decodeURIComponent</a:t>
            </a:r>
            <a:r>
              <a:rPr lang="en-US" dirty="0">
                <a:solidFill>
                  <a:srgbClr val="0070C0"/>
                </a:solidFill>
              </a:rPr>
              <a:t>(res);</a:t>
            </a:r>
            <a:r>
              <a:rPr lang="fr-FR" dirty="0">
                <a:solidFill>
                  <a:srgbClr val="0070C0"/>
                </a:solidFill>
              </a:rPr>
              <a:t> // </a:t>
            </a:r>
            <a:r>
              <a:rPr lang="en-US" dirty="0">
                <a:solidFill>
                  <a:srgbClr val="0070C0"/>
                </a:solidFill>
              </a:rPr>
              <a:t>tryit.asp?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52B119F-E694-4313-ADAC-69A9F9627046}"/>
              </a:ext>
            </a:extLst>
          </p:cNvPr>
          <p:cNvSpPr txBox="1">
            <a:spLocks/>
          </p:cNvSpPr>
          <p:nvPr/>
        </p:nvSpPr>
        <p:spPr>
          <a:xfrm>
            <a:off x="569890" y="1068947"/>
            <a:ext cx="10820400" cy="1714502"/>
          </a:xfrm>
          <a:prstGeom prst="rect">
            <a:avLst/>
          </a:prstGeom>
        </p:spPr>
        <p:txBody>
          <a:bodyPr lIns="0" anchor="t">
            <a:noAutofit/>
          </a:bodyPr>
          <a:lstStyle>
            <a:lvl1pPr algn="l" defTabSz="914400" rtl="0" eaLnBrk="1" latinLnBrk="0" hangingPunct="1">
              <a:lnSpc>
                <a:spcPts val="11000"/>
              </a:lnSpc>
              <a:spcBef>
                <a:spcPct val="0"/>
              </a:spcBef>
              <a:buNone/>
              <a:defRPr sz="12500" kern="1200">
                <a:solidFill>
                  <a:schemeClr val="tx1"/>
                </a:solidFill>
                <a:latin typeface="Proxima Nova Black" panose="02000506030000020004" pitchFamily="50" charset="0"/>
                <a:ea typeface="+mj-ea"/>
                <a:cs typeface="+mj-cs"/>
              </a:defRPr>
            </a:lvl1pPr>
          </a:lstStyle>
          <a:p>
            <a:endParaRPr lang="uk-UA" sz="4400" dirty="0"/>
          </a:p>
        </p:txBody>
      </p:sp>
    </p:spTree>
    <p:extLst>
      <p:ext uri="{BB962C8B-B14F-4D97-AF65-F5344CB8AC3E}">
        <p14:creationId xmlns:p14="http://schemas.microsoft.com/office/powerpoint/2010/main" val="355965398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USED MATERIALS</a:t>
            </a:r>
            <a:endParaRPr lang="uk-UA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B40ABE4-A9F8-4A95-B31B-CF861D743B3B}"/>
              </a:ext>
            </a:extLst>
          </p:cNvPr>
          <p:cNvSpPr/>
          <p:nvPr/>
        </p:nvSpPr>
        <p:spPr>
          <a:xfrm>
            <a:off x="685799" y="4162548"/>
            <a:ext cx="9207844" cy="200965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https://medium.com/@leonardobrunolima/javascript-tips-apply-vs-call-vs-bind-d738a9e8b4e1</a:t>
            </a:r>
            <a:endParaRPr lang="uk-UA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https://developer.mozilla.org/en-US/docs/Web/JavaScript/Reference/Global_objects/Function/bind</a:t>
            </a:r>
            <a:endParaRPr lang="uk-UA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https://developer.mozilla.org/en-US/docs/Web/JavaScript/Reference/Global_Objects/Function/apply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https://developer.mozilla.org/en-US/docs/Glossary/IIFE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https://developer.mozilla.org/en-US/docs/Web/JavaScript/Closures</a:t>
            </a:r>
            <a:endParaRPr lang="en-US" dirty="0"/>
          </a:p>
          <a:p>
            <a:pPr defTabSz="438911">
              <a:lnSpc>
                <a:spcPct val="90000"/>
              </a:lnSpc>
              <a:spcBef>
                <a:spcPts val="1000"/>
              </a:spcBef>
              <a:defRPr sz="1536"/>
            </a:pPr>
            <a:r>
              <a:rPr lang="en-US" dirty="0">
                <a:hlinkClick r:id="rId8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https://developer.mozilla.org/ru/docs/Web/JavaScript/Reference/Global_Objects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666644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QUESTIONS?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28529994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  <a:endParaRPr lang="uk-UA" dirty="0"/>
          </a:p>
        </p:txBody>
      </p:sp>
    </p:spTree>
    <p:extLst>
      <p:ext uri="{BB962C8B-B14F-4D97-AF65-F5344CB8AC3E}">
        <p14:creationId xmlns:p14="http://schemas.microsoft.com/office/powerpoint/2010/main" val="3936401418"/>
      </p:ext>
    </p:extLst>
  </p:cSld>
  <p:clrMapOvr>
    <a:masterClrMapping/>
  </p:clrMapOvr>
</p:sld>
</file>

<file path=ppt/theme/theme1.xml><?xml version="1.0" encoding="utf-8"?>
<a:theme xmlns:a="http://schemas.openxmlformats.org/drawingml/2006/main" name="DARK 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Custom 1">
      <a:majorFont>
        <a:latin typeface="Proxima Nova Black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444DEE5D-51F1-4029-8FDB-DB417F7B394A}"/>
    </a:ext>
  </a:extLst>
</a:theme>
</file>

<file path=ppt/theme/theme2.xml><?xml version="1.0" encoding="utf-8"?>
<a:theme xmlns:a="http://schemas.openxmlformats.org/drawingml/2006/main" name="LIGHT-THEME">
  <a:themeElements>
    <a:clrScheme name="SOFTSERV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88"/>
      </a:accent1>
      <a:accent2>
        <a:srgbClr val="9F26B5"/>
      </a:accent2>
      <a:accent3>
        <a:srgbClr val="4E5FAB"/>
      </a:accent3>
      <a:accent4>
        <a:srgbClr val="95D600"/>
      </a:accent4>
      <a:accent5>
        <a:srgbClr val="D41B5D"/>
      </a:accent5>
      <a:accent6>
        <a:srgbClr val="00A6CE"/>
      </a:accent6>
      <a:hlink>
        <a:srgbClr val="00A6CE"/>
      </a:hlink>
      <a:folHlink>
        <a:srgbClr val="4E5FAB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oftServeTemplate" id="{1EECC8DE-A8A5-45A7-969A-C21752D4B3E4}" vid="{0103479C-70CD-40C7-BA0E-A151EE336BCC}"/>
    </a:ext>
  </a:extLst>
</a:theme>
</file>

<file path=ppt/theme/theme3.xml><?xml version="1.0" encoding="utf-8"?>
<a:theme xmlns:a="http://schemas.openxmlformats.org/drawingml/2006/main" name="Тема Office">
  <a:themeElements>
    <a:clrScheme name="Офіс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Офіс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Офіс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x041a__x043e__x043c__x0435__x0442__x0430__x0440_ xmlns="835f28f2-30f1-4728-84d2-86d96e14348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Документ" ma:contentTypeID="0x0101004195FC54A15F344D83577B1CDDD67A5D" ma:contentTypeVersion="9" ma:contentTypeDescription="Создание документа." ma:contentTypeScope="" ma:versionID="961ec8db58076c7d3e9f84b9cd82fd45">
  <xsd:schema xmlns:xsd="http://www.w3.org/2001/XMLSchema" xmlns:xs="http://www.w3.org/2001/XMLSchema" xmlns:p="http://schemas.microsoft.com/office/2006/metadata/properties" xmlns:ns2="341e6018-ac0a-4dfb-8409-db9e0d25502e" xmlns:ns3="835f28f2-30f1-4728-84d2-86d96e143488" targetNamespace="http://schemas.microsoft.com/office/2006/metadata/properties" ma:root="true" ma:fieldsID="bd9f0c80ada20ee560e77d723f3ef44e" ns2:_="" ns3:_="">
    <xsd:import namespace="341e6018-ac0a-4dfb-8409-db9e0d25502e"/>
    <xsd:import namespace="835f28f2-30f1-4728-84d2-86d96e143488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Location" minOccurs="0"/>
                <xsd:element ref="ns3:MediaServiceOCR" minOccurs="0"/>
                <xsd:element ref="ns3:_x041a__x043e__x043c__x0435__x0442__x0430__x044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1e6018-ac0a-4dfb-8409-db9e0d25502e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Общий доступ с использованием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Совместно с подробностями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35f28f2-30f1-4728-84d2-86d96e14348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DateTaken" ma:index="12" nillable="true" ma:displayName="MediaServiceDateTaken" ma:description="" ma:hidden="true" ma:internalName="MediaServiceDateTaken" ma:readOnly="true">
      <xsd:simpleType>
        <xsd:restriction base="dms:Text"/>
      </xsd:simpleType>
    </xsd:element>
    <xsd:element name="MediaServiceAutoTags" ma:index="13" nillable="true" ma:displayName="MediaServiceAutoTags" ma:description="" ma:internalName="MediaServiceAutoTags" ma:readOnly="true">
      <xsd:simpleType>
        <xsd:restriction base="dms:Text"/>
      </xsd:simpleType>
    </xsd:element>
    <xsd:element name="MediaServiceLocation" ma:index="14" nillable="true" ma:displayName="MediaServiceLocation" ma:description="" ma:internalName="MediaServiceLocation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_x041a__x043e__x043c__x0435__x0442__x0430__x0440_" ma:index="16" nillable="true" ma:displayName="Кометар" ma:internalName="_x041a__x043e__x043c__x0435__x0442__x0430__x0440_">
      <xsd:simpleType>
        <xsd:restriction base="dms:Text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Тип контента"/>
        <xsd:element ref="dc:title" minOccurs="0" maxOccurs="1" ma:index="4" ma:displayName="Название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96B3B9E-03D8-4766-BF45-6129617CF02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3A1340B-3A1B-4156-ADE3-51DF6C2C795D}">
  <ds:schemaRefs>
    <ds:schemaRef ds:uri="http://schemas.microsoft.com/office/infopath/2007/PartnerControls"/>
    <ds:schemaRef ds:uri="http://schemas.microsoft.com/office/2006/documentManagement/types"/>
    <ds:schemaRef ds:uri="http://schemas.microsoft.com/office/2006/metadata/properties"/>
    <ds:schemaRef ds:uri="835f28f2-30f1-4728-84d2-86d96e143488"/>
    <ds:schemaRef ds:uri="http://purl.org/dc/terms/"/>
    <ds:schemaRef ds:uri="http://schemas.openxmlformats.org/package/2006/metadata/core-properties"/>
    <ds:schemaRef ds:uri="http://purl.org/dc/dcmitype/"/>
    <ds:schemaRef ds:uri="341e6018-ac0a-4dfb-8409-db9e0d25502e"/>
    <ds:schemaRef ds:uri="http://www.w3.org/XML/1998/namespace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CAFDAB34-20E1-438F-BCB2-ECDA5496F36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41e6018-ac0a-4dfb-8409-db9e0d25502e"/>
    <ds:schemaRef ds:uri="835f28f2-30f1-4728-84d2-86d96e14348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SoftServeTemplate_Black</Template>
  <TotalTime>823</TotalTime>
  <Words>1053</Words>
  <Application>Microsoft Office PowerPoint</Application>
  <PresentationFormat>Широкий екран</PresentationFormat>
  <Paragraphs>162</Paragraphs>
  <Slides>26</Slides>
  <Notes>1</Notes>
  <HiddenSlides>0</HiddenSlides>
  <MMClips>0</MMClips>
  <ScaleCrop>false</ScaleCrop>
  <HeadingPairs>
    <vt:vector size="6" baseType="variant">
      <vt:variant>
        <vt:lpstr>Використані шрифти</vt:lpstr>
      </vt:variant>
      <vt:variant>
        <vt:i4>4</vt:i4>
      </vt:variant>
      <vt:variant>
        <vt:lpstr>Тема</vt:lpstr>
      </vt:variant>
      <vt:variant>
        <vt:i4>2</vt:i4>
      </vt:variant>
      <vt:variant>
        <vt:lpstr>Заголовки слайдів</vt:lpstr>
      </vt:variant>
      <vt:variant>
        <vt:i4>26</vt:i4>
      </vt:variant>
    </vt:vector>
  </HeadingPairs>
  <TitlesOfParts>
    <vt:vector size="32" baseType="lpstr">
      <vt:lpstr>Open Sans</vt:lpstr>
      <vt:lpstr>Arial</vt:lpstr>
      <vt:lpstr>Proxima Nova Black</vt:lpstr>
      <vt:lpstr>Calibri</vt:lpstr>
      <vt:lpstr>DARK THEME</vt:lpstr>
      <vt:lpstr>LIGHT-THEME</vt:lpstr>
      <vt:lpstr>FUNCTIONS Part2</vt:lpstr>
      <vt:lpstr>AGENDA</vt:lpstr>
      <vt:lpstr>BINDING &amp; APPLYING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IIFE</vt:lpstr>
      <vt:lpstr>Презентація PowerPoint</vt:lpstr>
      <vt:lpstr>Презентація PowerPoint</vt:lpstr>
      <vt:lpstr>CLOSURES</vt:lpstr>
      <vt:lpstr>Презентація PowerPoint</vt:lpstr>
      <vt:lpstr>Презентація PowerPoint</vt:lpstr>
      <vt:lpstr>PREDEFINED FUNCTIONS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Презентація PowerPoint</vt:lpstr>
      <vt:lpstr>USED MATERIALS</vt:lpstr>
      <vt:lpstr>QUESTIONS?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Liubov Koliasa</dc:creator>
  <cp:lastModifiedBy>Volodymyr Karanevych</cp:lastModifiedBy>
  <cp:revision>54</cp:revision>
  <dcterms:created xsi:type="dcterms:W3CDTF">2018-12-11T16:43:22Z</dcterms:created>
  <dcterms:modified xsi:type="dcterms:W3CDTF">2019-05-16T16:35:09Z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0x0101004195FC54A15F344D83577B1CDDD67A5D</vt:lpwstr>
  </property>
</Properties>
</file>