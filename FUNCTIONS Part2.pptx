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56" r:id="rId5"/>
  </p:sldMasterIdLst>
  <p:notesMasterIdLst>
    <p:notesMasterId r:id="rId32"/>
  </p:notesMasterIdLst>
  <p:sldIdLst>
    <p:sldId id="257" r:id="rId6"/>
    <p:sldId id="294" r:id="rId7"/>
    <p:sldId id="259" r:id="rId8"/>
    <p:sldId id="275" r:id="rId9"/>
    <p:sldId id="314" r:id="rId10"/>
    <p:sldId id="316" r:id="rId11"/>
    <p:sldId id="315" r:id="rId12"/>
    <p:sldId id="317" r:id="rId13"/>
    <p:sldId id="311" r:id="rId14"/>
    <p:sldId id="318" r:id="rId15"/>
    <p:sldId id="319" r:id="rId16"/>
    <p:sldId id="312" r:id="rId17"/>
    <p:sldId id="320" r:id="rId18"/>
    <p:sldId id="321" r:id="rId19"/>
    <p:sldId id="313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271" r:id="rId29"/>
    <p:sldId id="273" r:id="rId30"/>
    <p:sldId id="310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Open Sans" panose="020B0604020202020204" charset="0"/>
      <p:regular r:id="rId37"/>
      <p:bold r:id="rId38"/>
      <p:italic r:id="rId39"/>
      <p:boldItalic r:id="rId40"/>
    </p:embeddedFont>
    <p:embeddedFont>
      <p:font typeface="Proxima Nova Black" panose="020B0604020202020204" charset="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950" autoAdjust="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4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3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77A24-0CD7-48AC-99D6-4616F7F24091}" type="datetimeFigureOut">
              <a:rPr lang="uk-UA" smtClean="0"/>
              <a:t>28.05.2019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04F5B-612B-4BBD-B72A-38EC12FF6A9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031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4F5B-612B-4BBD-B72A-38EC12FF6A92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212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</a:t>
            </a:r>
            <a:br>
              <a:rPr lang="uk-UA" dirty="0"/>
            </a:br>
            <a:r>
              <a:rPr lang="en-US" dirty="0"/>
              <a:t>TO</a:t>
            </a:r>
            <a:r>
              <a:rPr lang="uk-UA" dirty="0"/>
              <a:t> </a:t>
            </a:r>
            <a:r>
              <a:rPr lang="en-US" dirty="0"/>
              <a:t>BE</a:t>
            </a:r>
            <a:r>
              <a:rPr lang="uk-UA" dirty="0"/>
              <a:t> </a:t>
            </a:r>
            <a:r>
              <a:rPr lang="en-US" dirty="0"/>
              <a:t>CAPI</a:t>
            </a:r>
            <a:br>
              <a:rPr lang="uk-UA" dirty="0"/>
            </a:br>
            <a:r>
              <a:rPr lang="en-US" dirty="0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57075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96648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463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772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6044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0788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IDETEXT-PROCES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77043"/>
            <a:ext cx="7124700" cy="2051957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77043"/>
            <a:ext cx="3467100" cy="2051957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917664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3113586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 userDrawn="1"/>
        </p:nvSpPr>
        <p:spPr>
          <a:xfrm>
            <a:off x="5309508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7505429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 userDrawn="1"/>
        </p:nvSpPr>
        <p:spPr>
          <a:xfrm>
            <a:off x="9701348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 userDrawn="1"/>
        </p:nvCxnSpPr>
        <p:spPr>
          <a:xfrm>
            <a:off x="2700337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 userDrawn="1"/>
        </p:nvCxnSpPr>
        <p:spPr>
          <a:xfrm>
            <a:off x="4896259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 userDrawn="1"/>
        </p:nvCxnSpPr>
        <p:spPr>
          <a:xfrm>
            <a:off x="709218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 userDrawn="1"/>
        </p:nvCxnSpPr>
        <p:spPr>
          <a:xfrm>
            <a:off x="928810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028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7481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3360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639324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82544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236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98628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R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2959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219825" y="2057400"/>
            <a:ext cx="5286375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3376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-PHOTO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057400"/>
            <a:ext cx="12192000" cy="480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739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2025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-PHOTO-R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</a:t>
            </a:r>
            <a:r>
              <a:rPr lang="uk-UA" dirty="0"/>
              <a:t> С</a:t>
            </a:r>
            <a:r>
              <a:rPr lang="en-US" dirty="0"/>
              <a:t>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734514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-CHAR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68543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022539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LIGH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</a:t>
            </a:r>
            <a:br>
              <a:rPr lang="uk-UA" dirty="0"/>
            </a:br>
            <a:r>
              <a:rPr lang="en-US" dirty="0"/>
              <a:t>TO</a:t>
            </a:r>
            <a:r>
              <a:rPr lang="uk-UA" dirty="0"/>
              <a:t> </a:t>
            </a:r>
            <a:r>
              <a:rPr lang="en-US" dirty="0"/>
              <a:t>BE</a:t>
            </a:r>
            <a:r>
              <a:rPr lang="uk-UA" dirty="0"/>
              <a:t> </a:t>
            </a:r>
            <a:r>
              <a:rPr lang="en-US" dirty="0"/>
              <a:t>CAPI</a:t>
            </a:r>
            <a:br>
              <a:rPr lang="uk-UA" dirty="0"/>
            </a:br>
            <a:r>
              <a:rPr lang="en-US" dirty="0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4242457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2667753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18938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0168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196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86897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IDETEXT-PROCES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77043"/>
            <a:ext cx="7124700" cy="2051957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77043"/>
            <a:ext cx="3467100" cy="2051957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917664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3113586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 userDrawn="1"/>
        </p:nvSpPr>
        <p:spPr>
          <a:xfrm>
            <a:off x="5309508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7505429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 userDrawn="1"/>
        </p:nvSpPr>
        <p:spPr>
          <a:xfrm>
            <a:off x="9701348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 userDrawn="1"/>
        </p:nvCxnSpPr>
        <p:spPr>
          <a:xfrm>
            <a:off x="2700337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 userDrawn="1"/>
        </p:nvCxnSpPr>
        <p:spPr>
          <a:xfrm>
            <a:off x="4896259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 userDrawn="1"/>
        </p:nvCxnSpPr>
        <p:spPr>
          <a:xfrm>
            <a:off x="709218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 userDrawn="1"/>
        </p:nvCxnSpPr>
        <p:spPr>
          <a:xfrm>
            <a:off x="928810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028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7481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3360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639324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82544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487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</p:spTree>
    <p:extLst>
      <p:ext uri="{BB962C8B-B14F-4D97-AF65-F5344CB8AC3E}">
        <p14:creationId xmlns:p14="http://schemas.microsoft.com/office/powerpoint/2010/main" val="1128689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RIGH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2959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219825" y="2057400"/>
            <a:ext cx="5286375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4278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-PHOTO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057400"/>
            <a:ext cx="121920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55464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5590467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-PHOTO-RIGH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</a:t>
            </a:r>
            <a:r>
              <a:rPr lang="uk-UA" dirty="0"/>
              <a:t> С</a:t>
            </a:r>
            <a:r>
              <a:rPr lang="en-US" dirty="0"/>
              <a:t>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1780709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-CHAR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2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LEF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4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38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2" r:id="rId3"/>
    <p:sldLayoutId id="2147483654" r:id="rId4"/>
    <p:sldLayoutId id="2147483657" r:id="rId5"/>
    <p:sldLayoutId id="2147483661" r:id="rId6"/>
    <p:sldLayoutId id="2147483663" r:id="rId7"/>
    <p:sldLayoutId id="2147483665" r:id="rId8"/>
    <p:sldLayoutId id="2147483667" r:id="rId9"/>
    <p:sldLayoutId id="2147483670" r:id="rId10"/>
    <p:sldLayoutId id="2147483669" r:id="rId11"/>
    <p:sldLayoutId id="2147483671" r:id="rId12"/>
    <p:sldLayoutId id="2147483672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724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  <p15:guide id="7" orient="horz" pos="3456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  <p15:guide id="9" pos="1680" userDrawn="1">
          <p15:clr>
            <a:srgbClr val="F26B43"/>
          </p15:clr>
        </p15:guide>
        <p15:guide id="10" pos="1824" userDrawn="1">
          <p15:clr>
            <a:srgbClr val="F26B43"/>
          </p15:clr>
        </p15:guide>
        <p15:guide id="11" pos="2616" userDrawn="1">
          <p15:clr>
            <a:srgbClr val="F26B43"/>
          </p15:clr>
        </p15:guide>
        <p15:guide id="12" pos="3072" userDrawn="1">
          <p15:clr>
            <a:srgbClr val="F26B43"/>
          </p15:clr>
        </p15:guide>
        <p15:guide id="13" pos="2760" userDrawn="1">
          <p15:clr>
            <a:srgbClr val="F26B43"/>
          </p15:clr>
        </p15:guide>
        <p15:guide id="14" pos="3216" userDrawn="1">
          <p15:clr>
            <a:srgbClr val="F26B43"/>
          </p15:clr>
        </p15:guide>
        <p15:guide id="15" pos="4464" userDrawn="1">
          <p15:clr>
            <a:srgbClr val="F26B43"/>
          </p15:clr>
        </p15:guide>
        <p15:guide id="16" pos="4608" userDrawn="1">
          <p15:clr>
            <a:srgbClr val="F26B43"/>
          </p15:clr>
        </p15:guide>
        <p15:guide id="17" pos="4920" userDrawn="1">
          <p15:clr>
            <a:srgbClr val="F26B43"/>
          </p15:clr>
        </p15:guide>
        <p15:guide id="18" pos="5064" userDrawn="1">
          <p15:clr>
            <a:srgbClr val="F26B43"/>
          </p15:clr>
        </p15:guide>
        <p15:guide id="19" pos="5856" userDrawn="1">
          <p15:clr>
            <a:srgbClr val="F26B43"/>
          </p15:clr>
        </p15:guide>
        <p15:guide id="20" pos="6000" userDrawn="1">
          <p15:clr>
            <a:srgbClr val="F26B43"/>
          </p15:clr>
        </p15:guide>
        <p15:guide id="21" orient="horz" pos="1296" userDrawn="1">
          <p15:clr>
            <a:srgbClr val="F26B43"/>
          </p15:clr>
        </p15:guide>
        <p15:guide id="22" orient="horz" pos="1728" userDrawn="1">
          <p15:clr>
            <a:srgbClr val="F26B43"/>
          </p15:clr>
        </p15:guide>
        <p15:guide id="23" pos="3768" userDrawn="1">
          <p15:clr>
            <a:srgbClr val="F26B43"/>
          </p15:clr>
        </p15:guide>
        <p15:guide id="24" pos="391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59145" y="5906728"/>
            <a:ext cx="1547053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64" r:id="rId7"/>
    <p:sldLayoutId id="2147483666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ru/docs/Web/JavaScript/Reference/Global_Objects" TargetMode="External"/><Relationship Id="rId3" Type="http://schemas.openxmlformats.org/officeDocument/2006/relationships/hyperlink" Target="https://medium.com/@leonardobrunolima/javascript-tips-apply-vs-call-vs-bind-d738a9e8b4e1" TargetMode="External"/><Relationship Id="rId7" Type="http://schemas.openxmlformats.org/officeDocument/2006/relationships/hyperlink" Target="https://developer.mozilla.org/en-US/docs/Web/JavaScript/Closu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Glossary/IIFE" TargetMode="External"/><Relationship Id="rId5" Type="http://schemas.openxmlformats.org/officeDocument/2006/relationships/hyperlink" Target="https://developer.mozilla.org/en-US/docs/Web/JavaScript/Reference/Global_Objects/Function/apply" TargetMode="External"/><Relationship Id="rId4" Type="http://schemas.openxmlformats.org/officeDocument/2006/relationships/hyperlink" Target="https://developer.mozilla.org/en-US/docs/Web/JavaScript/Reference/Global_objects/Function/bind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8308" y="174928"/>
            <a:ext cx="12390783" cy="6683071"/>
          </a:xfrm>
        </p:spPr>
        <p:txBody>
          <a:bodyPr/>
          <a:lstStyle/>
          <a:p>
            <a:r>
              <a:rPr lang="en-US" sz="12600" dirty="0"/>
              <a:t>FUNCTIONS Part2</a:t>
            </a:r>
            <a:endParaRPr lang="en-US" sz="126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By Volodymyr Karanevych</a:t>
            </a:r>
          </a:p>
        </p:txBody>
      </p:sp>
    </p:spTree>
    <p:extLst>
      <p:ext uri="{BB962C8B-B14F-4D97-AF65-F5344CB8AC3E}">
        <p14:creationId xmlns:p14="http://schemas.microsoft.com/office/powerpoint/2010/main" val="155275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820400" cy="1714502"/>
          </a:xfrm>
        </p:spPr>
        <p:txBody>
          <a:bodyPr/>
          <a:lstStyle/>
          <a:p>
            <a:r>
              <a:rPr lang="en-US" dirty="0"/>
              <a:t>AGENDA</a:t>
            </a:r>
            <a:endParaRPr lang="uk-U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2400301"/>
            <a:ext cx="4274820" cy="381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Binding and Applying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IIFE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Closures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Predefined functions</a:t>
            </a:r>
          </a:p>
        </p:txBody>
      </p:sp>
    </p:spTree>
    <p:extLst>
      <p:ext uri="{BB962C8B-B14F-4D97-AF65-F5344CB8AC3E}">
        <p14:creationId xmlns:p14="http://schemas.microsoft.com/office/powerpoint/2010/main" val="958342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0000" dirty="0"/>
              <a:t>BINDING &amp; APPLYING</a:t>
            </a:r>
            <a:endParaRPr lang="uk-UA" sz="10000" dirty="0"/>
          </a:p>
        </p:txBody>
      </p:sp>
    </p:spTree>
    <p:extLst>
      <p:ext uri="{BB962C8B-B14F-4D97-AF65-F5344CB8AC3E}">
        <p14:creationId xmlns:p14="http://schemas.microsoft.com/office/powerpoint/2010/main" val="65838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bind()</a:t>
            </a:r>
            <a:r>
              <a:rPr lang="en-US" dirty="0"/>
              <a:t> method returns a new function, allowing you to pass in a this array and any number of arguments. Use it when you want that function to later be called with a certain context like events.</a:t>
            </a:r>
          </a:p>
          <a:p>
            <a:endParaRPr lang="en-US" dirty="0"/>
          </a:p>
          <a:p>
            <a:r>
              <a:rPr lang="en-US" i="1" dirty="0" err="1">
                <a:solidFill>
                  <a:srgbClr val="FF0000"/>
                </a:solidFill>
              </a:rPr>
              <a:t>function.bind</a:t>
            </a:r>
            <a:r>
              <a:rPr lang="en-US" i="1" dirty="0">
                <a:solidFill>
                  <a:srgbClr val="FF0000"/>
                </a:solidFill>
              </a:rPr>
              <a:t>(</a:t>
            </a:r>
            <a:r>
              <a:rPr lang="en-US" i="1" dirty="0" err="1">
                <a:solidFill>
                  <a:srgbClr val="FF0000"/>
                </a:solidFill>
              </a:rPr>
              <a:t>thisArg</a:t>
            </a:r>
            <a:r>
              <a:rPr lang="en-US" i="1" dirty="0">
                <a:solidFill>
                  <a:srgbClr val="FF0000"/>
                </a:solidFill>
              </a:rPr>
              <a:t>[, arg1[, arg2[, ...]]])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BIND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84494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A6D39-E8C5-4701-B0DA-3B7073F41A6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5800" y="1714502"/>
            <a:ext cx="4787849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let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customer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= {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‘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Igor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’};</a:t>
            </a: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</a:b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function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greeting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text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) {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</a:b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console.log(`${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text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} ${this.name}`);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</a:b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}</a:t>
            </a: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let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hello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gor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=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greeting.bind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customer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);</a:t>
            </a:r>
            <a:b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</a:b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hello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Igor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('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Hello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'); //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Hello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Igor</a:t>
            </a:r>
          </a:p>
        </p:txBody>
      </p:sp>
    </p:spTree>
    <p:extLst>
      <p:ext uri="{BB962C8B-B14F-4D97-AF65-F5344CB8AC3E}">
        <p14:creationId xmlns:p14="http://schemas.microsoft.com/office/powerpoint/2010/main" val="79056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A6D39-E8C5-4701-B0DA-3B7073F41A6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5800" y="1125366"/>
            <a:ext cx="4875694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this.x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= 9; 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var module = {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 x: 81,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 </a:t>
            </a: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getX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function() { return </a:t>
            </a: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this.x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 }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};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module.getX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();  // 81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var </a:t>
            </a: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retrieveX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= </a:t>
            </a: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module.getX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retrieveX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();   // 9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var </a:t>
            </a: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boundGetX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= </a:t>
            </a: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retrieveX.bind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(module);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boundGetX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();  // 81</a:t>
            </a: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12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apply()</a:t>
            </a:r>
            <a:r>
              <a:rPr lang="en-US" dirty="0"/>
              <a:t> method calls a function with a given this value, and arguments provided as an array </a:t>
            </a:r>
            <a:r>
              <a:rPr lang="en-US" i="1" dirty="0"/>
              <a:t>(or an array-like object).</a:t>
            </a:r>
          </a:p>
          <a:p>
            <a:endParaRPr lang="en-US" i="1" dirty="0"/>
          </a:p>
          <a:p>
            <a:r>
              <a:rPr lang="en-US" i="1" dirty="0" err="1">
                <a:solidFill>
                  <a:srgbClr val="FF0000"/>
                </a:solidFill>
              </a:rPr>
              <a:t>function.apply</a:t>
            </a:r>
            <a:r>
              <a:rPr lang="en-US" i="1" dirty="0">
                <a:solidFill>
                  <a:srgbClr val="FF0000"/>
                </a:solidFill>
              </a:rPr>
              <a:t>(</a:t>
            </a:r>
            <a:r>
              <a:rPr lang="en-US" i="1" dirty="0" err="1">
                <a:solidFill>
                  <a:srgbClr val="FF0000"/>
                </a:solidFill>
              </a:rPr>
              <a:t>thisArg</a:t>
            </a:r>
            <a:r>
              <a:rPr lang="en-US" i="1" dirty="0">
                <a:solidFill>
                  <a:srgbClr val="FF0000"/>
                </a:solidFill>
              </a:rPr>
              <a:t>, [</a:t>
            </a:r>
            <a:r>
              <a:rPr lang="en-US" i="1" dirty="0" err="1">
                <a:solidFill>
                  <a:srgbClr val="FF0000"/>
                </a:solidFill>
              </a:rPr>
              <a:t>argsArray</a:t>
            </a:r>
            <a:r>
              <a:rPr lang="en-US" i="1" dirty="0">
                <a:solidFill>
                  <a:srgbClr val="FF0000"/>
                </a:solidFill>
              </a:rPr>
              <a:t>])</a:t>
            </a:r>
          </a:p>
          <a:p>
            <a:endParaRPr lang="uk-UA" i="1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let numbers = [5, 6, 2, 3, 7];</a:t>
            </a:r>
            <a:endParaRPr lang="uk-UA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let max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Math.max.apply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(null, numbers);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console.log(max);// 7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let min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Math.min.apply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(null, numbers);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console.log(min);// 2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APPLY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60981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A6D39-E8C5-4701-B0DA-3B7073F41A6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5800" y="2202585"/>
            <a:ext cx="4333366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var array = ['a', 'b’];</a:t>
            </a:r>
            <a:endParaRPr lang="uk-UA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var elements = [0, 1, 2];</a:t>
            </a:r>
            <a:endParaRPr lang="uk-UA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 err="1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array.push.apply</a:t>
            </a: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(array, elements);</a:t>
            </a:r>
            <a:endParaRPr lang="uk-UA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uk-UA" dirty="0">
              <a:solidFill>
                <a:schemeClr val="accent6">
                  <a:lumMod val="75000"/>
                </a:schemeClr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uk-UA" dirty="0">
                <a:solidFill>
                  <a:schemeClr val="accent6">
                    <a:lumMod val="75000"/>
                  </a:schemeClr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console.log(array); // ["a", "b", 0, 1, 2]</a:t>
            </a: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717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0000" dirty="0"/>
              <a:t>IIFE</a:t>
            </a:r>
            <a:endParaRPr lang="uk-UA" sz="10000" dirty="0"/>
          </a:p>
        </p:txBody>
      </p:sp>
    </p:spTree>
    <p:extLst>
      <p:ext uri="{BB962C8B-B14F-4D97-AF65-F5344CB8AC3E}">
        <p14:creationId xmlns:p14="http://schemas.microsoft.com/office/powerpoint/2010/main" val="7553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IIFE</a:t>
            </a:r>
            <a:r>
              <a:rPr lang="en-US" dirty="0"/>
              <a:t> (Immediately Invoked Function Expression) is a JavaScript function that runs as soon as it is defined.</a:t>
            </a:r>
            <a:endParaRPr lang="en-US" i="1" dirty="0"/>
          </a:p>
          <a:p>
            <a:endParaRPr lang="uk-UA" i="1" dirty="0"/>
          </a:p>
          <a:p>
            <a:r>
              <a:rPr lang="en-US" dirty="0">
                <a:solidFill>
                  <a:srgbClr val="0070C0"/>
                </a:solidFill>
              </a:rPr>
              <a:t>(function () { </a:t>
            </a:r>
          </a:p>
          <a:p>
            <a:r>
              <a:rPr lang="en-US" dirty="0">
                <a:solidFill>
                  <a:srgbClr val="0070C0"/>
                </a:solidFill>
              </a:rPr>
              <a:t>    // Code goes here </a:t>
            </a:r>
          </a:p>
          <a:p>
            <a:r>
              <a:rPr lang="en-US" dirty="0">
                <a:solidFill>
                  <a:srgbClr val="0070C0"/>
                </a:solidFill>
              </a:rPr>
              <a:t>})();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IIFE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314265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(function sum(a, b) {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console.log(a + b); // 5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})(2, 3);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45141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0000" dirty="0"/>
              <a:t>CLOSURES</a:t>
            </a:r>
            <a:endParaRPr lang="uk-UA" sz="10000" dirty="0"/>
          </a:p>
        </p:txBody>
      </p:sp>
    </p:spTree>
    <p:extLst>
      <p:ext uri="{BB962C8B-B14F-4D97-AF65-F5344CB8AC3E}">
        <p14:creationId xmlns:p14="http://schemas.microsoft.com/office/powerpoint/2010/main" val="3411117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closure</a:t>
            </a:r>
            <a:r>
              <a:rPr lang="en-US" dirty="0"/>
              <a:t> is the combination of a function and the lexical environment within which that function was declared.</a:t>
            </a:r>
          </a:p>
          <a:p>
            <a:endParaRPr lang="uk-UA" i="1" dirty="0"/>
          </a:p>
          <a:p>
            <a:r>
              <a:rPr lang="en-US" dirty="0">
                <a:solidFill>
                  <a:srgbClr val="0070C0"/>
                </a:solidFill>
              </a:rPr>
              <a:t>function </a:t>
            </a:r>
            <a:r>
              <a:rPr lang="en-US" dirty="0" err="1">
                <a:solidFill>
                  <a:srgbClr val="0070C0"/>
                </a:solidFill>
              </a:rPr>
              <a:t>init</a:t>
            </a:r>
            <a:r>
              <a:rPr lang="en-US" dirty="0">
                <a:solidFill>
                  <a:srgbClr val="0070C0"/>
                </a:solidFill>
              </a:rPr>
              <a:t>() {</a:t>
            </a:r>
          </a:p>
          <a:p>
            <a:r>
              <a:rPr lang="en-US" dirty="0">
                <a:solidFill>
                  <a:srgbClr val="0070C0"/>
                </a:solidFill>
              </a:rPr>
              <a:t>  var name = 'Mozilla’; </a:t>
            </a:r>
          </a:p>
          <a:p>
            <a:r>
              <a:rPr lang="en-US" dirty="0">
                <a:solidFill>
                  <a:srgbClr val="0070C0"/>
                </a:solidFill>
              </a:rPr>
              <a:t>function </a:t>
            </a:r>
            <a:r>
              <a:rPr lang="en-US" dirty="0" err="1">
                <a:solidFill>
                  <a:srgbClr val="0070C0"/>
                </a:solidFill>
              </a:rPr>
              <a:t>displayName</a:t>
            </a:r>
            <a:r>
              <a:rPr lang="en-US" dirty="0">
                <a:solidFill>
                  <a:srgbClr val="0070C0"/>
                </a:solidFill>
              </a:rPr>
              <a:t>() { </a:t>
            </a:r>
          </a:p>
          <a:p>
            <a:r>
              <a:rPr lang="en-US" dirty="0">
                <a:solidFill>
                  <a:srgbClr val="0070C0"/>
                </a:solidFill>
              </a:rPr>
              <a:t>    console.log(name);   // Mozilla</a:t>
            </a:r>
          </a:p>
          <a:p>
            <a:r>
              <a:rPr lang="en-US" dirty="0">
                <a:solidFill>
                  <a:srgbClr val="0070C0"/>
                </a:solidFill>
              </a:rPr>
              <a:t>  }</a:t>
            </a:r>
          </a:p>
          <a:p>
            <a:r>
              <a:rPr lang="en-US" dirty="0">
                <a:solidFill>
                  <a:srgbClr val="0070C0"/>
                </a:solidFill>
              </a:rPr>
              <a:t>  </a:t>
            </a:r>
            <a:r>
              <a:rPr lang="en-US" dirty="0" err="1">
                <a:solidFill>
                  <a:srgbClr val="0070C0"/>
                </a:solidFill>
              </a:rPr>
              <a:t>displayName</a:t>
            </a:r>
            <a:r>
              <a:rPr lang="en-US" dirty="0">
                <a:solidFill>
                  <a:srgbClr val="0070C0"/>
                </a:solidFill>
              </a:rPr>
              <a:t>();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r>
              <a:rPr lang="en-US" dirty="0" err="1">
                <a:solidFill>
                  <a:srgbClr val="0070C0"/>
                </a:solidFill>
              </a:rPr>
              <a:t>init</a:t>
            </a:r>
            <a:r>
              <a:rPr lang="en-US" dirty="0">
                <a:solidFill>
                  <a:srgbClr val="0070C0"/>
                </a:solidFill>
              </a:rPr>
              <a:t>();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CLOSURES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03742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070559"/>
            <a:ext cx="9281160" cy="38100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function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makeAdder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(x) {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return function(y) {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return x + y;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};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var add5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makeAdder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(5);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console.log(add5(2));  // 7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812572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0000" dirty="0"/>
              <a:t>PREDEFINED FUNCTIONS</a:t>
            </a:r>
            <a:endParaRPr lang="uk-UA" sz="10000" dirty="0"/>
          </a:p>
        </p:txBody>
      </p:sp>
    </p:spTree>
    <p:extLst>
      <p:ext uri="{BB962C8B-B14F-4D97-AF65-F5344CB8AC3E}">
        <p14:creationId xmlns:p14="http://schemas.microsoft.com/office/powerpoint/2010/main" val="825120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JavaScript has several top-level, built-in functions: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eval()</a:t>
            </a:r>
            <a:r>
              <a:rPr lang="en-US" dirty="0"/>
              <a:t> method evaluates JavaScript code represented as a string.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console.log(eval('2 + 2’));  // 4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console.log(eval('2 + 2') === eval('4’));  // true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PREDEFINED FUNCTIONS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084233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1710" y="1068947"/>
            <a:ext cx="9281160" cy="3810000"/>
          </a:xfrm>
        </p:spPr>
        <p:txBody>
          <a:bodyPr/>
          <a:lstStyle/>
          <a:p>
            <a:r>
              <a:rPr lang="en-US" dirty="0"/>
              <a:t>The global </a:t>
            </a:r>
            <a:r>
              <a:rPr lang="en-US" b="1" dirty="0" err="1"/>
              <a:t>isFinite</a:t>
            </a:r>
            <a:r>
              <a:rPr lang="en-US" b="1" dirty="0"/>
              <a:t>() </a:t>
            </a:r>
            <a:r>
              <a:rPr lang="en-US" dirty="0"/>
              <a:t>function determines whether the passed value is a finite number. If needed, the parameter is first converted to a number.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function inf(x) {</a:t>
            </a:r>
          </a:p>
          <a:p>
            <a:r>
              <a:rPr lang="en-US" dirty="0">
                <a:solidFill>
                  <a:srgbClr val="0070C0"/>
                </a:solidFill>
              </a:rPr>
              <a:t>  if (</a:t>
            </a:r>
            <a:r>
              <a:rPr lang="en-US" dirty="0" err="1">
                <a:solidFill>
                  <a:srgbClr val="0070C0"/>
                </a:solidFill>
              </a:rPr>
              <a:t>isFinite</a:t>
            </a:r>
            <a:r>
              <a:rPr lang="en-US" dirty="0">
                <a:solidFill>
                  <a:srgbClr val="0070C0"/>
                </a:solidFill>
              </a:rPr>
              <a:t>(1000 / x)) {</a:t>
            </a:r>
          </a:p>
          <a:p>
            <a:r>
              <a:rPr lang="en-US" dirty="0">
                <a:solidFill>
                  <a:srgbClr val="0070C0"/>
                </a:solidFill>
              </a:rPr>
              <a:t>    return 'Number is NOT Infinity.';</a:t>
            </a:r>
          </a:p>
          <a:p>
            <a:r>
              <a:rPr lang="en-US" dirty="0">
                <a:solidFill>
                  <a:srgbClr val="0070C0"/>
                </a:solidFill>
              </a:rPr>
              <a:t>  }</a:t>
            </a:r>
          </a:p>
          <a:p>
            <a:r>
              <a:rPr lang="en-US" dirty="0">
                <a:solidFill>
                  <a:srgbClr val="0070C0"/>
                </a:solidFill>
              </a:rPr>
              <a:t>  return "Number is Infinity!";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console.log(inf(0));  // "Number is Infinity!"</a:t>
            </a:r>
          </a:p>
          <a:p>
            <a:r>
              <a:rPr lang="en-US" dirty="0">
                <a:solidFill>
                  <a:srgbClr val="0070C0"/>
                </a:solidFill>
              </a:rPr>
              <a:t>console.log(inf(1));  // "Number is NOT Infinity."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569890" y="1068947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40841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1710" y="1068947"/>
            <a:ext cx="9281160" cy="3810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isNaN</a:t>
            </a:r>
            <a:r>
              <a:rPr lang="en-US" b="1" dirty="0"/>
              <a:t>()</a:t>
            </a:r>
            <a:r>
              <a:rPr lang="en-US" dirty="0"/>
              <a:t> function determines whether a value is </a:t>
            </a:r>
            <a:r>
              <a:rPr lang="en-US" b="1" dirty="0" err="1"/>
              <a:t>NaN</a:t>
            </a:r>
            <a:r>
              <a:rPr lang="en-US" dirty="0"/>
              <a:t> or not.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r>
              <a:rPr lang="en-US" dirty="0">
                <a:solidFill>
                  <a:srgbClr val="0070C0"/>
                </a:solidFill>
              </a:rPr>
              <a:t>);       // true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(undefined); // true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({});        // true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(true);      // false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(null);      // false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(37);        // false</a:t>
            </a:r>
          </a:p>
          <a:p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569890" y="1068947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106195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1710" y="1068947"/>
            <a:ext cx="9281160" cy="3810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// strings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('37');      // false: "37" is converted to the number 37 which is not 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("37,5");    // true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('123ABC');  // true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('');        // false: the empty string is converted to 0 which is not 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// dates</a:t>
            </a:r>
          </a:p>
          <a:p>
            <a:r>
              <a:rPr lang="en-US" dirty="0" err="1">
                <a:solidFill>
                  <a:srgbClr val="0070C0"/>
                </a:solidFill>
              </a:rPr>
              <a:t>isNaN</a:t>
            </a:r>
            <a:r>
              <a:rPr lang="en-US" dirty="0">
                <a:solidFill>
                  <a:srgbClr val="0070C0"/>
                </a:solidFill>
              </a:rPr>
              <a:t>(new Date()); // false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569890" y="1068947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24231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1710" y="1068947"/>
            <a:ext cx="9281160" cy="3810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parseInt</a:t>
            </a:r>
            <a:r>
              <a:rPr lang="en-US" b="1" dirty="0"/>
              <a:t>() </a:t>
            </a:r>
            <a:r>
              <a:rPr lang="en-US" dirty="0"/>
              <a:t>function parses a string and returns an integer.</a:t>
            </a:r>
          </a:p>
          <a:p>
            <a:r>
              <a:rPr lang="fr-FR" dirty="0">
                <a:solidFill>
                  <a:srgbClr val="0070C0"/>
                </a:solidFill>
              </a:rPr>
              <a:t>parseInt("10"); // 10</a:t>
            </a:r>
          </a:p>
          <a:p>
            <a:r>
              <a:rPr lang="fr-FR" dirty="0">
                <a:solidFill>
                  <a:srgbClr val="0070C0"/>
                </a:solidFill>
              </a:rPr>
              <a:t>parseInt("10.33");  //10</a:t>
            </a:r>
          </a:p>
          <a:p>
            <a:r>
              <a:rPr lang="fr-FR" dirty="0">
                <a:solidFill>
                  <a:srgbClr val="0070C0"/>
                </a:solidFill>
              </a:rPr>
              <a:t>parseInt("34 45 66"); //34</a:t>
            </a:r>
          </a:p>
          <a:p>
            <a:endParaRPr lang="fr-FR" dirty="0">
              <a:solidFill>
                <a:srgbClr val="0070C0"/>
              </a:solidFill>
            </a:endParaRPr>
          </a:p>
          <a:p>
            <a:r>
              <a:rPr lang="en-US" dirty="0"/>
              <a:t>The </a:t>
            </a:r>
            <a:r>
              <a:rPr lang="en-US" b="1" dirty="0" err="1"/>
              <a:t>parseFloat</a:t>
            </a:r>
            <a:r>
              <a:rPr lang="en-US" b="1" dirty="0"/>
              <a:t>() </a:t>
            </a:r>
            <a:r>
              <a:rPr lang="en-US" dirty="0"/>
              <a:t>function parses a string and returns a floating point number.</a:t>
            </a:r>
          </a:p>
          <a:p>
            <a:r>
              <a:rPr lang="en-US" dirty="0" err="1">
                <a:solidFill>
                  <a:srgbClr val="0070C0"/>
                </a:solidFill>
              </a:rPr>
              <a:t>parseFloat</a:t>
            </a:r>
            <a:r>
              <a:rPr lang="en-US" dirty="0">
                <a:solidFill>
                  <a:srgbClr val="0070C0"/>
                </a:solidFill>
              </a:rPr>
              <a:t>("10.00"); // 10</a:t>
            </a:r>
          </a:p>
          <a:p>
            <a:r>
              <a:rPr lang="en-US" dirty="0" err="1">
                <a:solidFill>
                  <a:srgbClr val="0070C0"/>
                </a:solidFill>
              </a:rPr>
              <a:t>parseFloat</a:t>
            </a:r>
            <a:r>
              <a:rPr lang="en-US" dirty="0">
                <a:solidFill>
                  <a:srgbClr val="0070C0"/>
                </a:solidFill>
              </a:rPr>
              <a:t>("10.33"); // 10.33</a:t>
            </a:r>
          </a:p>
          <a:p>
            <a:r>
              <a:rPr lang="en-US" dirty="0" err="1">
                <a:solidFill>
                  <a:srgbClr val="0070C0"/>
                </a:solidFill>
              </a:rPr>
              <a:t>parseFloat</a:t>
            </a:r>
            <a:r>
              <a:rPr lang="en-US" dirty="0">
                <a:solidFill>
                  <a:srgbClr val="0070C0"/>
                </a:solidFill>
              </a:rPr>
              <a:t>("34 45 66"); // 34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569890" y="1068947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392455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1710" y="1068947"/>
            <a:ext cx="9281160" cy="3810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Number() </a:t>
            </a:r>
            <a:r>
              <a:rPr lang="en-US" dirty="0"/>
              <a:t>function converts an object's value to a number.</a:t>
            </a:r>
          </a:p>
          <a:p>
            <a:r>
              <a:rPr lang="en-US" dirty="0">
                <a:solidFill>
                  <a:srgbClr val="0070C0"/>
                </a:solidFill>
              </a:rPr>
              <a:t>Number(true); // 1</a:t>
            </a:r>
          </a:p>
          <a:p>
            <a:r>
              <a:rPr lang="en-US" dirty="0">
                <a:solidFill>
                  <a:srgbClr val="0070C0"/>
                </a:solidFill>
              </a:rPr>
              <a:t>Number(false); // 0</a:t>
            </a:r>
          </a:p>
          <a:p>
            <a:r>
              <a:rPr lang="en-US" dirty="0">
                <a:solidFill>
                  <a:srgbClr val="0070C0"/>
                </a:solidFill>
              </a:rPr>
              <a:t>Number('999’); // 999</a:t>
            </a:r>
          </a:p>
          <a:p>
            <a:r>
              <a:rPr lang="en-US" dirty="0">
                <a:solidFill>
                  <a:srgbClr val="0070C0"/>
                </a:solidFill>
              </a:rPr>
              <a:t>Number('555 666’) // </a:t>
            </a:r>
            <a:r>
              <a:rPr lang="en-US" dirty="0" err="1">
                <a:solidFill>
                  <a:srgbClr val="0070C0"/>
                </a:solidFill>
              </a:rPr>
              <a:t>NaN</a:t>
            </a:r>
            <a:endParaRPr lang="en-US" dirty="0">
              <a:solidFill>
                <a:srgbClr val="0070C0"/>
              </a:solidFill>
            </a:endParaRPr>
          </a:p>
          <a:p>
            <a:endParaRPr lang="fr-FR" dirty="0">
              <a:solidFill>
                <a:srgbClr val="0070C0"/>
              </a:solidFill>
            </a:endParaRPr>
          </a:p>
          <a:p>
            <a:r>
              <a:rPr lang="en-US" dirty="0"/>
              <a:t>The </a:t>
            </a:r>
            <a:r>
              <a:rPr lang="en-US" b="1" dirty="0"/>
              <a:t>String() </a:t>
            </a:r>
            <a:r>
              <a:rPr lang="en-US" dirty="0"/>
              <a:t>function convert different objects to strings.</a:t>
            </a:r>
          </a:p>
          <a:p>
            <a:r>
              <a:rPr lang="en-US" dirty="0">
                <a:solidFill>
                  <a:srgbClr val="0070C0"/>
                </a:solidFill>
              </a:rPr>
              <a:t>String(Boolean(0)); // false</a:t>
            </a:r>
          </a:p>
          <a:p>
            <a:r>
              <a:rPr lang="en-US" dirty="0">
                <a:solidFill>
                  <a:srgbClr val="0070C0"/>
                </a:solidFill>
              </a:rPr>
              <a:t>String(Boolean(1)); // true</a:t>
            </a:r>
          </a:p>
          <a:p>
            <a:r>
              <a:rPr lang="en-US" dirty="0">
                <a:solidFill>
                  <a:srgbClr val="0070C0"/>
                </a:solidFill>
              </a:rPr>
              <a:t>String(new Date()); // Thu May 16 2019 18:58:19 GMT+0300 (</a:t>
            </a:r>
            <a:r>
              <a:rPr lang="uk-UA" dirty="0">
                <a:solidFill>
                  <a:srgbClr val="0070C0"/>
                </a:solidFill>
              </a:rPr>
              <a:t>за східноєвропейським літнім часом)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>
                <a:solidFill>
                  <a:srgbClr val="0070C0"/>
                </a:solidFill>
              </a:rPr>
              <a:t>String(12345); // 12345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569890" y="1068947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037392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1710" y="1068947"/>
            <a:ext cx="9281160" cy="3810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encodeURI</a:t>
            </a:r>
            <a:r>
              <a:rPr lang="en-US" b="1" dirty="0"/>
              <a:t>() / </a:t>
            </a:r>
            <a:r>
              <a:rPr lang="en-US" b="1" dirty="0" err="1"/>
              <a:t>decodeURI</a:t>
            </a:r>
            <a:r>
              <a:rPr lang="en-US" b="1" dirty="0"/>
              <a:t>() </a:t>
            </a:r>
            <a:r>
              <a:rPr lang="en-US" dirty="0"/>
              <a:t>functions encodes / decodes special characters, except: </a:t>
            </a:r>
            <a:r>
              <a:rPr lang="en-US" dirty="0">
                <a:solidFill>
                  <a:srgbClr val="FF0000"/>
                </a:solidFill>
              </a:rPr>
              <a:t>, / ? : @ &amp; = + $ #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var </a:t>
            </a:r>
            <a:r>
              <a:rPr lang="en-US" dirty="0" err="1">
                <a:solidFill>
                  <a:srgbClr val="0070C0"/>
                </a:solidFill>
              </a:rPr>
              <a:t>uri</a:t>
            </a:r>
            <a:r>
              <a:rPr lang="en-US" dirty="0">
                <a:solidFill>
                  <a:srgbClr val="0070C0"/>
                </a:solidFill>
              </a:rPr>
              <a:t> = "https://www.google.com/search?</a:t>
            </a:r>
            <a:r>
              <a:rPr lang="uk-UA" dirty="0">
                <a:solidFill>
                  <a:srgbClr val="0070C0"/>
                </a:solidFill>
              </a:rPr>
              <a:t>борщ";</a:t>
            </a:r>
            <a:endParaRPr lang="en-US" dirty="0">
              <a:solidFill>
                <a:srgbClr val="0070C0"/>
              </a:solidFill>
            </a:endParaRPr>
          </a:p>
          <a:p>
            <a:endParaRPr lang="uk-UA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var res = </a:t>
            </a:r>
            <a:r>
              <a:rPr lang="en-US" dirty="0" err="1">
                <a:solidFill>
                  <a:srgbClr val="0070C0"/>
                </a:solidFill>
              </a:rPr>
              <a:t>encodeURI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uri</a:t>
            </a:r>
            <a:r>
              <a:rPr lang="en-US" dirty="0">
                <a:solidFill>
                  <a:srgbClr val="0070C0"/>
                </a:solidFill>
              </a:rPr>
              <a:t>); // https://www.google.com/search?%D0%B1%D0%BE%D1%80%D1%89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decodeURI</a:t>
            </a:r>
            <a:r>
              <a:rPr lang="en-US" dirty="0">
                <a:solidFill>
                  <a:srgbClr val="0070C0"/>
                </a:solidFill>
              </a:rPr>
              <a:t>(res);</a:t>
            </a:r>
            <a:r>
              <a:rPr lang="fr-FR" dirty="0">
                <a:solidFill>
                  <a:srgbClr val="0070C0"/>
                </a:solidFill>
              </a:rPr>
              <a:t> // </a:t>
            </a:r>
            <a:r>
              <a:rPr lang="en-US" dirty="0">
                <a:solidFill>
                  <a:srgbClr val="0070C0"/>
                </a:solidFill>
              </a:rPr>
              <a:t>https://www.google.com/search?</a:t>
            </a:r>
            <a:r>
              <a:rPr lang="uk-UA" dirty="0">
                <a:solidFill>
                  <a:srgbClr val="0070C0"/>
                </a:solidFill>
              </a:rPr>
              <a:t>борщ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569890" y="1068947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11661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01710" y="1068947"/>
            <a:ext cx="9281160" cy="3810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/>
              <a:t>encodeURIComponent</a:t>
            </a:r>
            <a:r>
              <a:rPr lang="en-US" b="1" dirty="0"/>
              <a:t>() / </a:t>
            </a:r>
            <a:r>
              <a:rPr lang="en-US" b="1" dirty="0" err="1"/>
              <a:t>decodeURIComponent</a:t>
            </a:r>
            <a:r>
              <a:rPr lang="en-US" b="1" dirty="0"/>
              <a:t>() </a:t>
            </a:r>
            <a:r>
              <a:rPr lang="en-US" dirty="0"/>
              <a:t>functions can encode / decode special characters: </a:t>
            </a:r>
            <a:r>
              <a:rPr lang="en-US" dirty="0">
                <a:solidFill>
                  <a:srgbClr val="FF0000"/>
                </a:solidFill>
              </a:rPr>
              <a:t>, / ? : @ &amp; = + $ #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var </a:t>
            </a:r>
            <a:r>
              <a:rPr lang="en-US" dirty="0" err="1">
                <a:solidFill>
                  <a:srgbClr val="0070C0"/>
                </a:solidFill>
              </a:rPr>
              <a:t>uri</a:t>
            </a:r>
            <a:r>
              <a:rPr lang="en-US" dirty="0">
                <a:solidFill>
                  <a:srgbClr val="0070C0"/>
                </a:solidFill>
              </a:rPr>
              <a:t> = "tryit.asp?</a:t>
            </a:r>
            <a:r>
              <a:rPr lang="uk-UA" dirty="0">
                <a:solidFill>
                  <a:srgbClr val="0070C0"/>
                </a:solidFill>
              </a:rPr>
              <a:t>";</a:t>
            </a:r>
            <a:endParaRPr lang="en-US" dirty="0">
              <a:solidFill>
                <a:srgbClr val="0070C0"/>
              </a:solidFill>
            </a:endParaRPr>
          </a:p>
          <a:p>
            <a:endParaRPr lang="uk-UA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var res = </a:t>
            </a:r>
            <a:r>
              <a:rPr lang="en-US" dirty="0" err="1">
                <a:solidFill>
                  <a:srgbClr val="0070C0"/>
                </a:solidFill>
              </a:rPr>
              <a:t>encodeURIComponent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uri</a:t>
            </a:r>
            <a:r>
              <a:rPr lang="en-US" dirty="0">
                <a:solidFill>
                  <a:srgbClr val="0070C0"/>
                </a:solidFill>
              </a:rPr>
              <a:t>); // tryit.asp%3F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decodeURIComponent</a:t>
            </a:r>
            <a:r>
              <a:rPr lang="en-US" dirty="0">
                <a:solidFill>
                  <a:srgbClr val="0070C0"/>
                </a:solidFill>
              </a:rPr>
              <a:t>(res);</a:t>
            </a:r>
            <a:r>
              <a:rPr lang="fr-FR" dirty="0">
                <a:solidFill>
                  <a:srgbClr val="0070C0"/>
                </a:solidFill>
              </a:rPr>
              <a:t> // </a:t>
            </a:r>
            <a:r>
              <a:rPr lang="en-US" dirty="0">
                <a:solidFill>
                  <a:srgbClr val="0070C0"/>
                </a:solidFill>
              </a:rPr>
              <a:t>tryit.asp?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569890" y="1068947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559653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MATERIALS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0ABE4-A9F8-4A95-B31B-CF861D743B3B}"/>
              </a:ext>
            </a:extLst>
          </p:cNvPr>
          <p:cNvSpPr/>
          <p:nvPr/>
        </p:nvSpPr>
        <p:spPr>
          <a:xfrm>
            <a:off x="685799" y="4162548"/>
            <a:ext cx="9207844" cy="2009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https://medium.com/@leonardobrunolima/javascript-tips-apply-vs-call-vs-bind-d738a9e8b4e1</a:t>
            </a:r>
            <a:endParaRPr lang="uk-UA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https://developer.mozilla.org/en-US/docs/Web/JavaScript/Reference/Global_objects/Function/bind</a:t>
            </a:r>
            <a:endParaRPr lang="uk-UA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https://developer.mozilla.org/en-US/docs/Web/JavaScript/Reference/Global_Objects/Function/apply</a:t>
            </a:r>
            <a:endParaRPr lang="en-US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https://developer.mozilla.org/en-US/docs/Glossary/IIFE</a:t>
            </a:r>
            <a:endParaRPr lang="en-US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https://developer.mozilla.org/en-US/docs/Web/JavaScript/Closures</a:t>
            </a:r>
            <a:endParaRPr lang="en-US" dirty="0"/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https://developer.mozilla.org/ru/docs/Web/JavaScript/Reference/Global_Objects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666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85299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36401418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Template" id="{1EECC8DE-A8A5-45A7-969A-C21752D4B3E4}" vid="{444DEE5D-51F1-4029-8FDB-DB417F7B394A}"/>
    </a:ext>
  </a:extLst>
</a:theme>
</file>

<file path=ppt/theme/theme2.xml><?xml version="1.0" encoding="utf-8"?>
<a:theme xmlns:a="http://schemas.openxmlformats.org/drawingml/2006/main" name="LIGHT-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Template" id="{1EECC8DE-A8A5-45A7-969A-C21752D4B3E4}" vid="{0103479C-70CD-40C7-BA0E-A151EE336BCC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195FC54A15F344D83577B1CDDD67A5D" ma:contentTypeVersion="9" ma:contentTypeDescription="Создание документа." ma:contentTypeScope="" ma:versionID="961ec8db58076c7d3e9f84b9cd82fd45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bd9f0c80ada20ee560e77d723f3ef44e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A1340B-3A1B-4156-ADE3-51DF6C2C795D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835f28f2-30f1-4728-84d2-86d96e143488"/>
    <ds:schemaRef ds:uri="http://purl.org/dc/terms/"/>
    <ds:schemaRef ds:uri="http://schemas.openxmlformats.org/package/2006/metadata/core-properties"/>
    <ds:schemaRef ds:uri="http://purl.org/dc/dcmitype/"/>
    <ds:schemaRef ds:uri="341e6018-ac0a-4dfb-8409-db9e0d25502e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FDAB34-20E1-438F-BCB2-ECDA5496F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1e6018-ac0a-4dfb-8409-db9e0d25502e"/>
    <ds:schemaRef ds:uri="835f28f2-30f1-4728-84d2-86d96e1434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SoftServeTemplate_Black</Template>
  <TotalTime>824</TotalTime>
  <Words>1031</Words>
  <Application>Microsoft Office PowerPoint</Application>
  <PresentationFormat>Широкий екран</PresentationFormat>
  <Paragraphs>160</Paragraphs>
  <Slides>26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26</vt:i4>
      </vt:variant>
    </vt:vector>
  </HeadingPairs>
  <TitlesOfParts>
    <vt:vector size="32" baseType="lpstr">
      <vt:lpstr>Open Sans</vt:lpstr>
      <vt:lpstr>Calibri</vt:lpstr>
      <vt:lpstr>Proxima Nova Black</vt:lpstr>
      <vt:lpstr>Arial</vt:lpstr>
      <vt:lpstr>DARK THEME</vt:lpstr>
      <vt:lpstr>LIGHT-THEME</vt:lpstr>
      <vt:lpstr>FUNCTIONS Part2</vt:lpstr>
      <vt:lpstr>AGENDA</vt:lpstr>
      <vt:lpstr>BINDING &amp; APPLYING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IIFE</vt:lpstr>
      <vt:lpstr>Презентація PowerPoint</vt:lpstr>
      <vt:lpstr>Презентація PowerPoint</vt:lpstr>
      <vt:lpstr>CLOSURES</vt:lpstr>
      <vt:lpstr>Презентація PowerPoint</vt:lpstr>
      <vt:lpstr>Презентація PowerPoint</vt:lpstr>
      <vt:lpstr>PREDEFINED FUNCTIONS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USED MATERIALS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Liubov Koliasa</dc:creator>
  <cp:lastModifiedBy>Volodymyr Karanevych</cp:lastModifiedBy>
  <cp:revision>55</cp:revision>
  <dcterms:created xsi:type="dcterms:W3CDTF">2018-12-11T16:43:22Z</dcterms:created>
  <dcterms:modified xsi:type="dcterms:W3CDTF">2019-05-28T07:21:48Z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</Properties>
</file>